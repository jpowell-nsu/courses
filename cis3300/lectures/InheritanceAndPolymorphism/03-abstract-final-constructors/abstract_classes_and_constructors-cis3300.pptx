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3 of the unit. Goes with the Part 3 notes and Example 3 in the code tutorial.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Employee was doing two jobs: describing every employee, and describing one way of being paid. Splitting them makes Employee abstract with only id and name, moves the salary into SalariedEmployee, and adds HourlyEmployee. Manager now extends SalariedEmployee. Code such as totalMonthlyPay keeps working unchanged.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Correction from older slides: abstract methods must be implemented by the first concrete subclass, not by every subclass; an abstract subclass may leave them. An abstract class does not need any abstract methods.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review notes promised two more meanings of final. The immutable class recipe said to make the class final; now students can see why: a mutable subclass could be passed anywhere the immutable type is expected.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Chain diagram from Executive up to Object. Note on newer Java: flexible constructor bodies became a standard feature in Java 25 (JEP 513); in Java 24 they are a preview. A superclass constructor that declares a checked exception forces every subclass constructor to declare it, because super(...) cannot be wrapped in 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Output of ConstructorOrderDemo. On a second object the static blocks do not run again. Older handouts listed instance initializers for all levels first and then constructors for all levels; the real order interleaves them level by level.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override dereferences the null field, the result is a NullPointerException during construction. This also matters for the earlier habit of calling setters from constructors: fine in a class nobody extends, risky otherwise.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Ties back to the review notes on serialization, which deferred this case to the inheritance unit. Deserialization calls the no-argument constructor of the first non-serializable superclass.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_TITLE">
    <p:bg>
      <p:bgPr>
        <a:solidFill>
          <a:srgbClr val="0E1124"/>
        </a:solidFill>
      </p:bgPr>
    </p:bg>
    <p:spTree>
      <p:nvGrpSpPr>
        <p:cNvPr id="1" name=""/>
        <p:cNvGrpSpPr/>
        <p:nvPr/>
      </p:nvGrpSpPr>
      <p:grpSpPr>
        <a:xfrm>
          <a:off x="0" y="0"/>
          <a:ext cx="0" cy="0"/>
          <a:chOff x="0" y="0"/>
          <a:chExt cx="0" cy="0"/>
        </a:xfrm>
      </p:grpSpPr>
      <p:sp>
        <p:nvSpPr>
          <p:cNvPr id="2" name="Text 0"/>
          <p:cNvSpPr/>
          <p:nvPr/>
        </p:nvSpPr>
        <p:spPr>
          <a:xfrm>
            <a:off x="731520" y="1417320"/>
            <a:ext cx="10698480" cy="365760"/>
          </a:xfrm>
          <a:prstGeom prst="rect">
            <a:avLst/>
          </a:prstGeom>
          <a:noFill/>
          <a:ln/>
        </p:spPr>
        <p:txBody>
          <a:bodyPr wrap="square" lIns="0" tIns="0" rIns="0" bIns="0" rtlCol="0" anchor="ctr"/>
          <a:lstStyle/>
          <a:p>
            <a:pPr indent="0" marL="0">
              <a:buNone/>
            </a:pPr>
            <a:r>
              <a:rPr lang="en-US" sz="1400" b="1" spc="300" kern="0" dirty="0">
                <a:solidFill>
                  <a:srgbClr val="58A6CC"/>
                </a:solidFill>
                <a:latin typeface="Calibri" pitchFamily="34" charset="0"/>
                <a:ea typeface="Calibri" pitchFamily="34" charset="-122"/>
                <a:cs typeface="Calibri" pitchFamily="34" charset="-120"/>
              </a:rPr>
              <a:t>CIS 3300  ·  INHERITANCE AND POLYMORPHISM</a:t>
            </a:r>
            <a:endParaRPr lang="en-US" sz="1400" dirty="0"/>
          </a:p>
        </p:txBody>
      </p:sp>
      <p:sp>
        <p:nvSpPr>
          <p:cNvPr id="3" name="Text 1"/>
          <p:cNvSpPr/>
          <p:nvPr>
            <p:ph idx="101" type="title" hasCustomPrompt="1"/>
          </p:nvPr>
        </p:nvSpPr>
        <p:spPr>
          <a:xfrm>
            <a:off x="731520" y="1920240"/>
            <a:ext cx="10698480" cy="1371600"/>
          </a:xfrm>
          <a:prstGeom prst="rect">
            <a:avLst/>
          </a:prstGeom>
          <a:noFill/>
          <a:ln/>
        </p:spPr>
        <p:txBody>
          <a:bodyPr wrap="square" rtlCol="0"/>
          <a:lstStyle>
            <a:lvl1pPr algn="l" indent="0" marL="0">
              <a:buNone/>
              <a:defRPr lang="en-US" sz="4800" b="1" dirty="0">
                <a:solidFill>
                  <a:srgbClr val="EAEEF9"/>
                </a:solidFill>
                <a:latin typeface="Cambria" pitchFamily="34" charset="0"/>
                <a:ea typeface="Cambria" pitchFamily="34" charset="-122"/>
                <a:cs typeface="Cambria" pitchFamily="34" charset="-120"/>
              </a:defRPr>
            </a:lvl1pPr>
          </a:lstStyle>
          <a:p>
            <a:pPr algn="l" indent="0" marL="0">
              <a:buNone/>
            </a:pPr>
            <a:endParaRPr lang="en-US" sz="4800" dirty="0"/>
          </a:p>
        </p:txBody>
      </p:sp>
      <p:sp>
        <p:nvSpPr>
          <p:cNvPr id="4" name="Text 1"/>
          <p:cNvSpPr/>
          <p:nvPr>
            <p:ph idx="102" type="body" hasCustomPrompt="1"/>
          </p:nvPr>
        </p:nvSpPr>
        <p:spPr>
          <a:xfrm>
            <a:off x="731520" y="3520440"/>
            <a:ext cx="10698480" cy="1463040"/>
          </a:xfrm>
          <a:prstGeom prst="rect">
            <a:avLst/>
          </a:prstGeom>
          <a:noFill/>
          <a:ln/>
        </p:spPr>
        <p:txBody>
          <a:bodyPr wrap="square" rtlCol="0"/>
          <a:lstStyle>
            <a:lvl1pPr algn="l" indent="0" marL="0">
              <a:buNone/>
              <a:defRPr lang="en-US" sz="2200" dirty="0">
                <a:solidFill>
                  <a:srgbClr val="9AA4C4"/>
                </a:solidFill>
                <a:latin typeface="Calibri" pitchFamily="34" charset="0"/>
                <a:ea typeface="Calibri" pitchFamily="34" charset="-122"/>
                <a:cs typeface="Calibri" pitchFamily="34" charset="-120"/>
              </a:defRPr>
            </a:lvl1pPr>
          </a:lstStyle>
          <a:p>
            <a:pPr algn="l"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191F3C"/>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658368"/>
            <a:ext cx="11064240" cy="731520"/>
          </a:xfrm>
          <a:prstGeom prst="rect">
            <a:avLst/>
          </a:prstGeom>
          <a:noFill/>
          <a:ln/>
        </p:spPr>
        <p:txBody>
          <a:bodyPr wrap="square" rtlCol="0"/>
          <a:lstStyle>
            <a:lvl1pPr algn="l" indent="0" marL="0">
              <a:buNone/>
              <a:defRPr lang="en-US" sz="3200" b="1" dirty="0">
                <a:solidFill>
                  <a:srgbClr val="EAEEF9"/>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AA4C4"/>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AA4C4"/>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1" type="title" hasCustomPrompt="1"/>
          </p:nvPr>
        </p:nvSpPr>
        <p:spPr>
          <a:xfrm>
            <a:off x="731520" y="1920240"/>
            <a:ext cx="10698480" cy="1371600"/>
          </a:xfrm>
          <a:prstGeom prst="rect">
            <a:avLst/>
          </a:prstGeom>
          <a:noFill/>
          <a:ln/>
        </p:spPr>
        <p:txBody>
          <a:bodyPr wrap="square" lIns="0" tIns="0" rIns="0" bIns="0" rtlCol="0" anchor="ctr"/>
          <a:lstStyle/>
          <a:p>
            <a:pPr algn="l" indent="0" marL="0">
              <a:buNone/>
            </a:pPr>
            <a:r>
              <a:rPr lang="en-US" sz="4800" b="1" dirty="0">
                <a:solidFill>
                  <a:srgbClr val="EAEEF9"/>
                </a:solidFill>
                <a:latin typeface="Cambria" pitchFamily="34" charset="0"/>
                <a:ea typeface="Cambria" pitchFamily="34" charset="-122"/>
                <a:cs typeface="Cambria" pitchFamily="34" charset="-120"/>
              </a:rPr>
              <a:t>Abstract Classes, final, and Constructors</a:t>
            </a:r>
            <a:endParaRPr lang="en-US" sz="4800" dirty="0"/>
          </a:p>
        </p:txBody>
      </p:sp>
      <p:sp>
        <p:nvSpPr>
          <p:cNvPr id="3" name="Text 1"/>
          <p:cNvSpPr/>
          <p:nvPr>
            <p:ph idx="102" type="body" hasCustomPrompt="1"/>
          </p:nvPr>
        </p:nvSpPr>
        <p:spPr>
          <a:xfrm>
            <a:off x="731520" y="3520440"/>
            <a:ext cx="10698480" cy="1463040"/>
          </a:xfrm>
          <a:prstGeom prst="rect">
            <a:avLst/>
          </a:prstGeom>
          <a:noFill/>
          <a:ln/>
        </p:spPr>
        <p:txBody>
          <a:bodyPr wrap="square" lIns="0" tIns="0" rIns="0" bIns="0" rtlCol="0" anchor="t"/>
          <a:lstStyle/>
          <a:p>
            <a:pPr algn="l" indent="0" marL="0">
              <a:buNone/>
            </a:pPr>
            <a:r>
              <a:rPr lang="en-US" sz="2200" dirty="0">
                <a:solidFill>
                  <a:srgbClr val="9AA4C4"/>
                </a:solidFill>
                <a:latin typeface="Calibri" pitchFamily="34" charset="0"/>
                <a:ea typeface="Calibri" pitchFamily="34" charset="-122"/>
                <a:cs typeface="Calibri" pitchFamily="34" charset="-120"/>
              </a:rPr>
              <a:t>Part 3 of 4: designing the top of a hierarchy, closing it off, and building objects in order</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658368"/>
            <a:ext cx="11064240" cy="731520"/>
          </a:xfrm>
          <a:prstGeom prst="rect">
            <a:avLst/>
          </a:prstGeom>
          <a:noFill/>
          <a:ln/>
        </p:spPr>
        <p:txBody>
          <a:bodyPr wrap="square" lIns="0" tIns="0" rIns="0" bIns="0" rtlCol="0" anchor="ctr"/>
          <a:lstStyle/>
          <a:p>
            <a:pPr algn="l" indent="0" marL="0">
              <a:buNone/>
            </a:pPr>
            <a:r>
              <a:rPr lang="en-US" sz="3200" b="1" dirty="0">
                <a:solidFill>
                  <a:srgbClr val="EAEEF9"/>
                </a:solidFill>
                <a:latin typeface="Cambria" pitchFamily="34" charset="0"/>
                <a:ea typeface="Cambria" pitchFamily="34" charset="-122"/>
                <a:cs typeface="Cambria" pitchFamily="34" charset="-120"/>
              </a:rPr>
              <a:t>Hourly workers do not fit a salaried Employee</a:t>
            </a:r>
            <a:endParaRPr lang="en-US" sz="3200" dirty="0"/>
          </a:p>
        </p:txBody>
      </p:sp>
      <p:sp>
        <p:nvSpPr>
          <p:cNvPr id="3" name="Shape 1"/>
          <p:cNvSpPr/>
          <p:nvPr/>
        </p:nvSpPr>
        <p:spPr>
          <a:xfrm>
            <a:off x="566928" y="393192"/>
            <a:ext cx="118872" cy="118872"/>
          </a:xfrm>
          <a:prstGeom prst="ellipse">
            <a:avLst/>
          </a:prstGeom>
          <a:solidFill>
            <a:srgbClr val="58A6CC"/>
          </a:solidFill>
          <a:ln/>
        </p:spPr>
      </p:sp>
      <p:sp>
        <p:nvSpPr>
          <p:cNvPr id="4" name="Text 2"/>
          <p:cNvSpPr txBox="1"/>
          <p:nvPr/>
        </p:nvSpPr>
        <p:spPr>
          <a:xfrm>
            <a:off x="768096" y="320040"/>
            <a:ext cx="10515600" cy="274320"/>
          </a:xfrm>
          <a:prstGeom prst="rect">
            <a:avLst/>
          </a:prstGeom>
          <a:noFill/>
          <a:ln/>
        </p:spPr>
        <p:txBody>
          <a:bodyPr wrap="square" lIns="0" tIns="0" rIns="0" bIns="0" rtlCol="0" anchor="ctr"/>
          <a:lstStyle/>
          <a:p>
            <a:pPr indent="0" marL="0">
              <a:buNone/>
            </a:pPr>
            <a:r>
              <a:rPr lang="en-US" sz="1200" b="1" spc="250" kern="0" dirty="0">
                <a:solidFill>
                  <a:srgbClr val="58A6CC"/>
                </a:solidFill>
                <a:latin typeface="Calibri" pitchFamily="34" charset="0"/>
                <a:ea typeface="Calibri" pitchFamily="34" charset="-122"/>
                <a:cs typeface="Calibri" pitchFamily="34" charset="-120"/>
              </a:rPr>
              <a:t>A NEW REQUIREMENT</a:t>
            </a:r>
            <a:endParaRPr lang="en-US" sz="1200" dirty="0"/>
          </a:p>
        </p:txBody>
      </p:sp>
      <p:sp>
        <p:nvSpPr>
          <p:cNvPr id="5" name="Text 3"/>
          <p:cNvSpPr txBox="1"/>
          <p:nvPr/>
        </p:nvSpPr>
        <p:spPr>
          <a:xfrm>
            <a:off x="548640" y="1645920"/>
            <a:ext cx="4572000" cy="365760"/>
          </a:xfrm>
          <a:prstGeom prst="rect">
            <a:avLst/>
          </a:prstGeom>
          <a:noFill/>
          <a:ln/>
        </p:spPr>
        <p:txBody>
          <a:bodyPr wrap="square" lIns="0" tIns="0" rIns="0" bIns="0" rtlCol="0" anchor="t"/>
          <a:lstStyle/>
          <a:p>
            <a:pPr indent="0" marL="0">
              <a:buNone/>
            </a:pPr>
            <a:r>
              <a:rPr lang="en-US" sz="2000" b="1" dirty="0">
                <a:solidFill>
                  <a:srgbClr val="9AA4C4"/>
                </a:solidFill>
                <a:latin typeface="Cambria" pitchFamily="34" charset="0"/>
                <a:ea typeface="Cambria" pitchFamily="34" charset="-122"/>
                <a:cs typeface="Cambria" pitchFamily="34" charset="-120"/>
              </a:rPr>
              <a:t>Before</a:t>
            </a:r>
            <a:endParaRPr lang="en-US" sz="2000" dirty="0"/>
          </a:p>
        </p:txBody>
      </p:sp>
      <p:sp>
        <p:nvSpPr>
          <p:cNvPr id="6" name="Shape 4"/>
          <p:cNvSpPr/>
          <p:nvPr/>
        </p:nvSpPr>
        <p:spPr>
          <a:xfrm>
            <a:off x="822960" y="2148840"/>
            <a:ext cx="3291840" cy="1188720"/>
          </a:xfrm>
          <a:prstGeom prst="rect">
            <a:avLst/>
          </a:prstGeom>
          <a:solidFill>
            <a:srgbClr val="242B50"/>
          </a:solidFill>
          <a:ln w="19050">
            <a:solidFill>
              <a:srgbClr val="5A66A6"/>
            </a:solidFill>
            <a:prstDash val="solid"/>
          </a:ln>
        </p:spPr>
      </p:sp>
      <p:sp>
        <p:nvSpPr>
          <p:cNvPr id="7" name="Text 5"/>
          <p:cNvSpPr txBox="1"/>
          <p:nvPr/>
        </p:nvSpPr>
        <p:spPr>
          <a:xfrm>
            <a:off x="822960" y="2148840"/>
            <a:ext cx="3291840" cy="457200"/>
          </a:xfrm>
          <a:prstGeom prst="rect">
            <a:avLst/>
          </a:prstGeom>
          <a:noFill/>
          <a:ln/>
        </p:spPr>
        <p:txBody>
          <a:bodyPr wrap="square" lIns="0" tIns="0" rIns="0" bIns="0" rtlCol="0" anchor="ctr"/>
          <a:lstStyle/>
          <a:p>
            <a:pPr algn="ctr" indent="0" marL="0">
              <a:buNone/>
            </a:pPr>
            <a:r>
              <a:rPr lang="en-US" sz="1600" b="1" dirty="0">
                <a:solidFill>
                  <a:srgbClr val="EAEEF9"/>
                </a:solidFill>
                <a:latin typeface="Courier New" pitchFamily="34" charset="0"/>
                <a:ea typeface="Courier New" pitchFamily="34" charset="-122"/>
                <a:cs typeface="Courier New" pitchFamily="34" charset="-120"/>
              </a:rPr>
              <a:t>Employee</a:t>
            </a:r>
            <a:endParaRPr lang="en-US" sz="1600" dirty="0"/>
          </a:p>
        </p:txBody>
      </p:sp>
      <p:sp>
        <p:nvSpPr>
          <p:cNvPr id="8" name="Shape 6"/>
          <p:cNvSpPr/>
          <p:nvPr/>
        </p:nvSpPr>
        <p:spPr>
          <a:xfrm>
            <a:off x="822960" y="2606040"/>
            <a:ext cx="3291840" cy="0"/>
          </a:xfrm>
          <a:prstGeom prst="line">
            <a:avLst/>
          </a:prstGeom>
          <a:noFill/>
          <a:ln w="12700">
            <a:solidFill>
              <a:srgbClr val="5A66A6"/>
            </a:solidFill>
            <a:prstDash val="solid"/>
          </a:ln>
        </p:spPr>
      </p:sp>
      <p:sp>
        <p:nvSpPr>
          <p:cNvPr id="9" name="Text 7"/>
          <p:cNvSpPr txBox="1"/>
          <p:nvPr/>
        </p:nvSpPr>
        <p:spPr>
          <a:xfrm>
            <a:off x="960120" y="2679192"/>
            <a:ext cx="3017520" cy="585216"/>
          </a:xfrm>
          <a:prstGeom prst="rect">
            <a:avLst/>
          </a:prstGeom>
          <a:noFill/>
          <a:ln/>
        </p:spPr>
        <p:txBody>
          <a:bodyPr wrap="square" lIns="0" tIns="0" rIns="0" bIns="0" rtlCol="0" anchor="t"/>
          <a:lstStyle/>
          <a:p>
            <a:pPr indent="0" marL="0">
              <a:buNone/>
            </a:pPr>
            <a:r>
              <a:rPr lang="en-US" sz="1300" dirty="0">
                <a:solidFill>
                  <a:srgbClr val="EAEEF9"/>
                </a:solidFill>
                <a:latin typeface="Courier New" pitchFamily="34" charset="0"/>
                <a:ea typeface="Courier New" pitchFamily="34" charset="-122"/>
                <a:cs typeface="Courier New" pitchFamily="34" charset="-120"/>
              </a:rPr>
              <a:t>annualSalary</a:t>
            </a:r>
            <a:endParaRPr lang="en-US" sz="1300" dirty="0"/>
          </a:p>
          <a:p>
            <a:pPr indent="0" marL="0">
              <a:buNone/>
            </a:pPr>
            <a:r>
              <a:rPr lang="en-US" sz="1300" dirty="0">
                <a:solidFill>
                  <a:srgbClr val="EAEEF9"/>
                </a:solidFill>
                <a:latin typeface="Courier New" pitchFamily="34" charset="0"/>
                <a:ea typeface="Courier New" pitchFamily="34" charset="-122"/>
                <a:cs typeface="Courier New" pitchFamily="34" charset="-120"/>
              </a:rPr>
              <a:t>raiseSalary()</a:t>
            </a:r>
            <a:endParaRPr lang="en-US" sz="1300" dirty="0"/>
          </a:p>
        </p:txBody>
      </p:sp>
      <p:sp>
        <p:nvSpPr>
          <p:cNvPr id="10" name="Shape 8"/>
          <p:cNvSpPr/>
          <p:nvPr/>
        </p:nvSpPr>
        <p:spPr>
          <a:xfrm>
            <a:off x="822960" y="4069080"/>
            <a:ext cx="3291840" cy="457200"/>
          </a:xfrm>
          <a:prstGeom prst="rect">
            <a:avLst/>
          </a:prstGeom>
          <a:solidFill>
            <a:srgbClr val="242B50"/>
          </a:solidFill>
          <a:ln w="19050">
            <a:solidFill>
              <a:srgbClr val="5A66A6"/>
            </a:solidFill>
            <a:prstDash val="solid"/>
          </a:ln>
        </p:spPr>
      </p:sp>
      <p:sp>
        <p:nvSpPr>
          <p:cNvPr id="11" name="Text 9"/>
          <p:cNvSpPr txBox="1"/>
          <p:nvPr/>
        </p:nvSpPr>
        <p:spPr>
          <a:xfrm>
            <a:off x="822960" y="4069080"/>
            <a:ext cx="3291840" cy="457200"/>
          </a:xfrm>
          <a:prstGeom prst="rect">
            <a:avLst/>
          </a:prstGeom>
          <a:noFill/>
          <a:ln/>
        </p:spPr>
        <p:txBody>
          <a:bodyPr wrap="square" lIns="0" tIns="0" rIns="0" bIns="0" rtlCol="0" anchor="ctr"/>
          <a:lstStyle/>
          <a:p>
            <a:pPr algn="ctr" indent="0" marL="0">
              <a:buNone/>
            </a:pPr>
            <a:r>
              <a:rPr lang="en-US" sz="1500" b="1" dirty="0">
                <a:solidFill>
                  <a:srgbClr val="EAEEF9"/>
                </a:solidFill>
                <a:latin typeface="Courier New" pitchFamily="34" charset="0"/>
                <a:ea typeface="Courier New" pitchFamily="34" charset="-122"/>
                <a:cs typeface="Courier New" pitchFamily="34" charset="-120"/>
              </a:rPr>
              <a:t>Manager</a:t>
            </a:r>
            <a:endParaRPr lang="en-US" sz="1500" dirty="0"/>
          </a:p>
        </p:txBody>
      </p:sp>
      <p:sp>
        <p:nvSpPr>
          <p:cNvPr id="12" name="Shape 10"/>
          <p:cNvSpPr/>
          <p:nvPr/>
        </p:nvSpPr>
        <p:spPr>
          <a:xfrm flipV="1">
            <a:off x="2468880" y="3337560"/>
            <a:ext cx="0" cy="731520"/>
          </a:xfrm>
          <a:prstGeom prst="line">
            <a:avLst/>
          </a:prstGeom>
          <a:noFill/>
          <a:ln w="22225">
            <a:solidFill>
              <a:srgbClr val="5A66A6"/>
            </a:solidFill>
            <a:prstDash val="solid"/>
            <a:tailEnd type="triangle"/>
          </a:ln>
        </p:spPr>
      </p:sp>
      <p:sp>
        <p:nvSpPr>
          <p:cNvPr id="13" name="Shape 11"/>
          <p:cNvSpPr/>
          <p:nvPr/>
        </p:nvSpPr>
        <p:spPr>
          <a:xfrm>
            <a:off x="548640" y="5029200"/>
            <a:ext cx="4206240" cy="411480"/>
          </a:xfrm>
          <a:prstGeom prst="roundRect">
            <a:avLst>
              <a:gd name="adj" fmla="val 13333"/>
            </a:avLst>
          </a:prstGeom>
          <a:solidFill>
            <a:srgbClr val="EC6C75"/>
          </a:solidFill>
          <a:ln/>
        </p:spPr>
      </p:sp>
      <p:sp>
        <p:nvSpPr>
          <p:cNvPr id="14" name="Text 12"/>
          <p:cNvSpPr txBox="1"/>
          <p:nvPr/>
        </p:nvSpPr>
        <p:spPr>
          <a:xfrm>
            <a:off x="548640" y="5029200"/>
            <a:ext cx="4206240" cy="411480"/>
          </a:xfrm>
          <a:prstGeom prst="rect">
            <a:avLst/>
          </a:prstGeom>
          <a:noFill/>
          <a:ln/>
        </p:spPr>
        <p:txBody>
          <a:bodyPr wrap="square" lIns="0" tIns="0" rIns="0" bIns="0" rtlCol="0" anchor="ctr"/>
          <a:lstStyle/>
          <a:p>
            <a:pPr algn="ctr" indent="0" marL="0">
              <a:buNone/>
            </a:pPr>
            <a:r>
              <a:rPr lang="en-US" sz="1400" b="1" dirty="0">
                <a:solidFill>
                  <a:srgbClr val="0E1124"/>
                </a:solidFill>
                <a:latin typeface="Calibri" pitchFamily="34" charset="0"/>
                <a:ea typeface="Calibri" pitchFamily="34" charset="-122"/>
                <a:cs typeface="Calibri" pitchFamily="34" charset="-120"/>
              </a:rPr>
              <a:t>HourlyEmployee? It would inherit a salary.</a:t>
            </a:r>
            <a:endParaRPr lang="en-US" sz="1400" dirty="0"/>
          </a:p>
        </p:txBody>
      </p:sp>
      <p:sp>
        <p:nvSpPr>
          <p:cNvPr id="15" name="Text 13"/>
          <p:cNvSpPr txBox="1"/>
          <p:nvPr/>
        </p:nvSpPr>
        <p:spPr>
          <a:xfrm>
            <a:off x="5120640" y="1645920"/>
            <a:ext cx="4572000" cy="365760"/>
          </a:xfrm>
          <a:prstGeom prst="rect">
            <a:avLst/>
          </a:prstGeom>
          <a:noFill/>
          <a:ln/>
        </p:spPr>
        <p:txBody>
          <a:bodyPr wrap="square" lIns="0" tIns="0" rIns="0" bIns="0" rtlCol="0" anchor="t"/>
          <a:lstStyle/>
          <a:p>
            <a:pPr indent="0" marL="0">
              <a:buNone/>
            </a:pPr>
            <a:r>
              <a:rPr lang="en-US" sz="2000" b="1" dirty="0">
                <a:solidFill>
                  <a:srgbClr val="F4A261"/>
                </a:solidFill>
                <a:latin typeface="Cambria" pitchFamily="34" charset="0"/>
                <a:ea typeface="Cambria" pitchFamily="34" charset="-122"/>
                <a:cs typeface="Cambria" pitchFamily="34" charset="-120"/>
              </a:rPr>
              <a:t>After</a:t>
            </a:r>
            <a:endParaRPr lang="en-US" sz="2000" dirty="0"/>
          </a:p>
        </p:txBody>
      </p:sp>
      <p:sp>
        <p:nvSpPr>
          <p:cNvPr id="16" name="Shape 14"/>
          <p:cNvSpPr/>
          <p:nvPr/>
        </p:nvSpPr>
        <p:spPr>
          <a:xfrm>
            <a:off x="7223760" y="1828800"/>
            <a:ext cx="2926080" cy="1188720"/>
          </a:xfrm>
          <a:prstGeom prst="rect">
            <a:avLst/>
          </a:prstGeom>
          <a:solidFill>
            <a:srgbClr val="242B50"/>
          </a:solidFill>
          <a:ln w="19050">
            <a:solidFill>
              <a:srgbClr val="F4A261"/>
            </a:solidFill>
            <a:prstDash val="solid"/>
          </a:ln>
        </p:spPr>
      </p:sp>
      <p:sp>
        <p:nvSpPr>
          <p:cNvPr id="17" name="Text 15"/>
          <p:cNvSpPr txBox="1"/>
          <p:nvPr/>
        </p:nvSpPr>
        <p:spPr>
          <a:xfrm>
            <a:off x="7223760" y="1828800"/>
            <a:ext cx="2926080" cy="457200"/>
          </a:xfrm>
          <a:prstGeom prst="rect">
            <a:avLst/>
          </a:prstGeom>
          <a:noFill/>
          <a:ln/>
        </p:spPr>
        <p:txBody>
          <a:bodyPr wrap="square" lIns="0" tIns="0" rIns="0" bIns="0" rtlCol="0" anchor="ctr"/>
          <a:lstStyle/>
          <a:p>
            <a:pPr algn="ctr" indent="0" marL="0">
              <a:buNone/>
            </a:pPr>
            <a:r>
              <a:rPr lang="en-US" sz="1600" b="1" i="1" dirty="0">
                <a:solidFill>
                  <a:srgbClr val="EAEEF9"/>
                </a:solidFill>
                <a:latin typeface="Courier New" pitchFamily="34" charset="0"/>
                <a:ea typeface="Courier New" pitchFamily="34" charset="-122"/>
                <a:cs typeface="Courier New" pitchFamily="34" charset="-120"/>
              </a:rPr>
              <a:t>abstract Employee</a:t>
            </a:r>
            <a:endParaRPr lang="en-US" sz="1600" dirty="0"/>
          </a:p>
        </p:txBody>
      </p:sp>
      <p:sp>
        <p:nvSpPr>
          <p:cNvPr id="18" name="Shape 16"/>
          <p:cNvSpPr/>
          <p:nvPr/>
        </p:nvSpPr>
        <p:spPr>
          <a:xfrm>
            <a:off x="7223760" y="2286000"/>
            <a:ext cx="2926080" cy="0"/>
          </a:xfrm>
          <a:prstGeom prst="line">
            <a:avLst/>
          </a:prstGeom>
          <a:noFill/>
          <a:ln w="12700">
            <a:solidFill>
              <a:srgbClr val="F4A261"/>
            </a:solidFill>
            <a:prstDash val="solid"/>
          </a:ln>
        </p:spPr>
      </p:sp>
      <p:sp>
        <p:nvSpPr>
          <p:cNvPr id="19" name="Text 17"/>
          <p:cNvSpPr txBox="1"/>
          <p:nvPr/>
        </p:nvSpPr>
        <p:spPr>
          <a:xfrm>
            <a:off x="7360920" y="2359152"/>
            <a:ext cx="2651760" cy="585216"/>
          </a:xfrm>
          <a:prstGeom prst="rect">
            <a:avLst/>
          </a:prstGeom>
          <a:noFill/>
          <a:ln/>
        </p:spPr>
        <p:txBody>
          <a:bodyPr wrap="square" lIns="0" tIns="0" rIns="0" bIns="0" rtlCol="0" anchor="t"/>
          <a:lstStyle/>
          <a:p>
            <a:pPr indent="0" marL="0">
              <a:buNone/>
            </a:pPr>
            <a:r>
              <a:rPr lang="en-US" sz="1300" dirty="0">
                <a:solidFill>
                  <a:srgbClr val="EAEEF9"/>
                </a:solidFill>
                <a:latin typeface="Courier New" pitchFamily="34" charset="0"/>
                <a:ea typeface="Courier New" pitchFamily="34" charset="-122"/>
                <a:cs typeface="Courier New" pitchFamily="34" charset="-120"/>
              </a:rPr>
              <a:t>id, name</a:t>
            </a:r>
            <a:endParaRPr lang="en-US" sz="1300" dirty="0"/>
          </a:p>
          <a:p>
            <a:pPr indent="0" marL="0">
              <a:buNone/>
            </a:pPr>
            <a:r>
              <a:rPr lang="en-US" sz="1300" dirty="0">
                <a:solidFill>
                  <a:srgbClr val="EAEEF9"/>
                </a:solidFill>
                <a:latin typeface="Courier New" pitchFamily="34" charset="0"/>
                <a:ea typeface="Courier New" pitchFamily="34" charset="-122"/>
                <a:cs typeface="Courier New" pitchFamily="34" charset="-120"/>
              </a:rPr>
              <a:t>getMonthlyPay()  abstract</a:t>
            </a:r>
            <a:endParaRPr lang="en-US" sz="1300" dirty="0"/>
          </a:p>
        </p:txBody>
      </p:sp>
      <p:sp>
        <p:nvSpPr>
          <p:cNvPr id="20" name="Shape 18"/>
          <p:cNvSpPr/>
          <p:nvPr/>
        </p:nvSpPr>
        <p:spPr>
          <a:xfrm>
            <a:off x="5303520" y="3520440"/>
            <a:ext cx="2926080" cy="896112"/>
          </a:xfrm>
          <a:prstGeom prst="rect">
            <a:avLst/>
          </a:prstGeom>
          <a:solidFill>
            <a:srgbClr val="242B50"/>
          </a:solidFill>
          <a:ln w="19050">
            <a:solidFill>
              <a:srgbClr val="5A66A6"/>
            </a:solidFill>
            <a:prstDash val="solid"/>
          </a:ln>
        </p:spPr>
      </p:sp>
      <p:sp>
        <p:nvSpPr>
          <p:cNvPr id="21" name="Text 19"/>
          <p:cNvSpPr txBox="1"/>
          <p:nvPr/>
        </p:nvSpPr>
        <p:spPr>
          <a:xfrm>
            <a:off x="5303520" y="3520440"/>
            <a:ext cx="2926080" cy="457200"/>
          </a:xfrm>
          <a:prstGeom prst="rect">
            <a:avLst/>
          </a:prstGeom>
          <a:noFill/>
          <a:ln/>
        </p:spPr>
        <p:txBody>
          <a:bodyPr wrap="square" lIns="0" tIns="0" rIns="0" bIns="0" rtlCol="0" anchor="ctr"/>
          <a:lstStyle/>
          <a:p>
            <a:pPr algn="ctr" indent="0" marL="0">
              <a:buNone/>
            </a:pPr>
            <a:r>
              <a:rPr lang="en-US" sz="1500" b="1" dirty="0">
                <a:solidFill>
                  <a:srgbClr val="EAEEF9"/>
                </a:solidFill>
                <a:latin typeface="Courier New" pitchFamily="34" charset="0"/>
                <a:ea typeface="Courier New" pitchFamily="34" charset="-122"/>
                <a:cs typeface="Courier New" pitchFamily="34" charset="-120"/>
              </a:rPr>
              <a:t>SalariedEmployee</a:t>
            </a:r>
            <a:endParaRPr lang="en-US" sz="1500" dirty="0"/>
          </a:p>
        </p:txBody>
      </p:sp>
      <p:sp>
        <p:nvSpPr>
          <p:cNvPr id="22" name="Shape 20"/>
          <p:cNvSpPr/>
          <p:nvPr/>
        </p:nvSpPr>
        <p:spPr>
          <a:xfrm>
            <a:off x="5303520" y="3977640"/>
            <a:ext cx="2926080" cy="0"/>
          </a:xfrm>
          <a:prstGeom prst="line">
            <a:avLst/>
          </a:prstGeom>
          <a:noFill/>
          <a:ln w="12700">
            <a:solidFill>
              <a:srgbClr val="5A66A6"/>
            </a:solidFill>
            <a:prstDash val="solid"/>
          </a:ln>
        </p:spPr>
      </p:sp>
      <p:sp>
        <p:nvSpPr>
          <p:cNvPr id="23" name="Text 21"/>
          <p:cNvSpPr txBox="1"/>
          <p:nvPr/>
        </p:nvSpPr>
        <p:spPr>
          <a:xfrm>
            <a:off x="5440680" y="4050792"/>
            <a:ext cx="2651760" cy="292608"/>
          </a:xfrm>
          <a:prstGeom prst="rect">
            <a:avLst/>
          </a:prstGeom>
          <a:noFill/>
          <a:ln/>
        </p:spPr>
        <p:txBody>
          <a:bodyPr wrap="square" lIns="0" tIns="0" rIns="0" bIns="0" rtlCol="0" anchor="t"/>
          <a:lstStyle/>
          <a:p>
            <a:pPr indent="0" marL="0">
              <a:buNone/>
            </a:pPr>
            <a:r>
              <a:rPr lang="en-US" sz="1300" dirty="0">
                <a:solidFill>
                  <a:srgbClr val="EAEEF9"/>
                </a:solidFill>
                <a:latin typeface="Courier New" pitchFamily="34" charset="0"/>
                <a:ea typeface="Courier New" pitchFamily="34" charset="-122"/>
                <a:cs typeface="Courier New" pitchFamily="34" charset="-120"/>
              </a:rPr>
              <a:t>annualSalary</a:t>
            </a:r>
            <a:endParaRPr lang="en-US" sz="1300" dirty="0"/>
          </a:p>
        </p:txBody>
      </p:sp>
      <p:sp>
        <p:nvSpPr>
          <p:cNvPr id="24" name="Shape 22"/>
          <p:cNvSpPr/>
          <p:nvPr/>
        </p:nvSpPr>
        <p:spPr>
          <a:xfrm>
            <a:off x="8686800" y="3520440"/>
            <a:ext cx="2926080" cy="896112"/>
          </a:xfrm>
          <a:prstGeom prst="rect">
            <a:avLst/>
          </a:prstGeom>
          <a:solidFill>
            <a:srgbClr val="242B50"/>
          </a:solidFill>
          <a:ln w="19050">
            <a:solidFill>
              <a:srgbClr val="5A66A6"/>
            </a:solidFill>
            <a:prstDash val="solid"/>
          </a:ln>
        </p:spPr>
      </p:sp>
      <p:sp>
        <p:nvSpPr>
          <p:cNvPr id="25" name="Text 23"/>
          <p:cNvSpPr txBox="1"/>
          <p:nvPr/>
        </p:nvSpPr>
        <p:spPr>
          <a:xfrm>
            <a:off x="8686800" y="3520440"/>
            <a:ext cx="2926080" cy="457200"/>
          </a:xfrm>
          <a:prstGeom prst="rect">
            <a:avLst/>
          </a:prstGeom>
          <a:noFill/>
          <a:ln/>
        </p:spPr>
        <p:txBody>
          <a:bodyPr wrap="square" lIns="0" tIns="0" rIns="0" bIns="0" rtlCol="0" anchor="ctr"/>
          <a:lstStyle/>
          <a:p>
            <a:pPr algn="ctr" indent="0" marL="0">
              <a:buNone/>
            </a:pPr>
            <a:r>
              <a:rPr lang="en-US" sz="1500" b="1" dirty="0">
                <a:solidFill>
                  <a:srgbClr val="EAEEF9"/>
                </a:solidFill>
                <a:latin typeface="Courier New" pitchFamily="34" charset="0"/>
                <a:ea typeface="Courier New" pitchFamily="34" charset="-122"/>
                <a:cs typeface="Courier New" pitchFamily="34" charset="-120"/>
              </a:rPr>
              <a:t>HourlyEmployee</a:t>
            </a:r>
            <a:endParaRPr lang="en-US" sz="1500" dirty="0"/>
          </a:p>
        </p:txBody>
      </p:sp>
      <p:sp>
        <p:nvSpPr>
          <p:cNvPr id="26" name="Shape 24"/>
          <p:cNvSpPr/>
          <p:nvPr/>
        </p:nvSpPr>
        <p:spPr>
          <a:xfrm>
            <a:off x="8686800" y="3977640"/>
            <a:ext cx="2926080" cy="0"/>
          </a:xfrm>
          <a:prstGeom prst="line">
            <a:avLst/>
          </a:prstGeom>
          <a:noFill/>
          <a:ln w="12700">
            <a:solidFill>
              <a:srgbClr val="5A66A6"/>
            </a:solidFill>
            <a:prstDash val="solid"/>
          </a:ln>
        </p:spPr>
      </p:sp>
      <p:sp>
        <p:nvSpPr>
          <p:cNvPr id="27" name="Text 25"/>
          <p:cNvSpPr txBox="1"/>
          <p:nvPr/>
        </p:nvSpPr>
        <p:spPr>
          <a:xfrm>
            <a:off x="8823960" y="4050792"/>
            <a:ext cx="2651760" cy="292608"/>
          </a:xfrm>
          <a:prstGeom prst="rect">
            <a:avLst/>
          </a:prstGeom>
          <a:noFill/>
          <a:ln/>
        </p:spPr>
        <p:txBody>
          <a:bodyPr wrap="square" lIns="0" tIns="0" rIns="0" bIns="0" rtlCol="0" anchor="t"/>
          <a:lstStyle/>
          <a:p>
            <a:pPr indent="0" marL="0">
              <a:buNone/>
            </a:pPr>
            <a:r>
              <a:rPr lang="en-US" sz="1300" dirty="0">
                <a:solidFill>
                  <a:srgbClr val="EAEEF9"/>
                </a:solidFill>
                <a:latin typeface="Courier New" pitchFamily="34" charset="0"/>
                <a:ea typeface="Courier New" pitchFamily="34" charset="-122"/>
                <a:cs typeface="Courier New" pitchFamily="34" charset="-120"/>
              </a:rPr>
              <a:t>hourlyRate, hours</a:t>
            </a:r>
            <a:endParaRPr lang="en-US" sz="1300" dirty="0"/>
          </a:p>
        </p:txBody>
      </p:sp>
      <p:sp>
        <p:nvSpPr>
          <p:cNvPr id="28" name="Shape 26"/>
          <p:cNvSpPr/>
          <p:nvPr/>
        </p:nvSpPr>
        <p:spPr>
          <a:xfrm>
            <a:off x="5303520" y="4983480"/>
            <a:ext cx="2926080" cy="457200"/>
          </a:xfrm>
          <a:prstGeom prst="rect">
            <a:avLst/>
          </a:prstGeom>
          <a:solidFill>
            <a:srgbClr val="242B50"/>
          </a:solidFill>
          <a:ln w="19050">
            <a:solidFill>
              <a:srgbClr val="5A66A6"/>
            </a:solidFill>
            <a:prstDash val="solid"/>
          </a:ln>
        </p:spPr>
      </p:sp>
      <p:sp>
        <p:nvSpPr>
          <p:cNvPr id="29" name="Text 27"/>
          <p:cNvSpPr txBox="1"/>
          <p:nvPr/>
        </p:nvSpPr>
        <p:spPr>
          <a:xfrm>
            <a:off x="5303520" y="4983480"/>
            <a:ext cx="2926080" cy="457200"/>
          </a:xfrm>
          <a:prstGeom prst="rect">
            <a:avLst/>
          </a:prstGeom>
          <a:noFill/>
          <a:ln/>
        </p:spPr>
        <p:txBody>
          <a:bodyPr wrap="square" lIns="0" tIns="0" rIns="0" bIns="0" rtlCol="0" anchor="ctr"/>
          <a:lstStyle/>
          <a:p>
            <a:pPr algn="ctr" indent="0" marL="0">
              <a:buNone/>
            </a:pPr>
            <a:r>
              <a:rPr lang="en-US" sz="1500" b="1" dirty="0">
                <a:solidFill>
                  <a:srgbClr val="EAEEF9"/>
                </a:solidFill>
                <a:latin typeface="Courier New" pitchFamily="34" charset="0"/>
                <a:ea typeface="Courier New" pitchFamily="34" charset="-122"/>
                <a:cs typeface="Courier New" pitchFamily="34" charset="-120"/>
              </a:rPr>
              <a:t>Manager</a:t>
            </a:r>
            <a:endParaRPr lang="en-US" sz="1500" dirty="0"/>
          </a:p>
        </p:txBody>
      </p:sp>
      <p:sp>
        <p:nvSpPr>
          <p:cNvPr id="30" name="Shape 28"/>
          <p:cNvSpPr/>
          <p:nvPr/>
        </p:nvSpPr>
        <p:spPr>
          <a:xfrm flipV="1">
            <a:off x="6766560" y="3017520"/>
            <a:ext cx="1371600" cy="502920"/>
          </a:xfrm>
          <a:prstGeom prst="line">
            <a:avLst/>
          </a:prstGeom>
          <a:noFill/>
          <a:ln w="22225">
            <a:solidFill>
              <a:srgbClr val="5A66A6"/>
            </a:solidFill>
            <a:prstDash val="solid"/>
            <a:tailEnd type="triangle"/>
          </a:ln>
        </p:spPr>
      </p:sp>
      <p:sp>
        <p:nvSpPr>
          <p:cNvPr id="31" name="Shape 29"/>
          <p:cNvSpPr/>
          <p:nvPr/>
        </p:nvSpPr>
        <p:spPr>
          <a:xfrm flipH="1" flipV="1">
            <a:off x="9235440" y="3017520"/>
            <a:ext cx="914400" cy="502920"/>
          </a:xfrm>
          <a:prstGeom prst="line">
            <a:avLst/>
          </a:prstGeom>
          <a:noFill/>
          <a:ln w="22225">
            <a:solidFill>
              <a:srgbClr val="5A66A6"/>
            </a:solidFill>
            <a:prstDash val="solid"/>
            <a:tailEnd type="triangle"/>
          </a:ln>
        </p:spPr>
      </p:sp>
      <p:sp>
        <p:nvSpPr>
          <p:cNvPr id="32" name="Shape 30"/>
          <p:cNvSpPr/>
          <p:nvPr/>
        </p:nvSpPr>
        <p:spPr>
          <a:xfrm flipV="1">
            <a:off x="6766560" y="4416552"/>
            <a:ext cx="0" cy="566928"/>
          </a:xfrm>
          <a:prstGeom prst="line">
            <a:avLst/>
          </a:prstGeom>
          <a:noFill/>
          <a:ln w="22225">
            <a:solidFill>
              <a:srgbClr val="5A66A6"/>
            </a:solidFill>
            <a:prstDash val="solid"/>
            <a:tailEnd type="triangle"/>
          </a:ln>
        </p:spPr>
      </p:sp>
      <p:sp>
        <p:nvSpPr>
          <p:cNvPr id="33" name="Text 31"/>
          <p:cNvSpPr txBox="1"/>
          <p:nvPr/>
        </p:nvSpPr>
        <p:spPr>
          <a:xfrm>
            <a:off x="8503920" y="5074920"/>
            <a:ext cx="3108960" cy="365760"/>
          </a:xfrm>
          <a:prstGeom prst="rect">
            <a:avLst/>
          </a:prstGeom>
          <a:noFill/>
          <a:ln/>
        </p:spPr>
        <p:txBody>
          <a:bodyPr wrap="square" lIns="0" tIns="0" rIns="0" bIns="0" rtlCol="0" anchor="t"/>
          <a:lstStyle/>
          <a:p>
            <a:pPr indent="0" marL="0">
              <a:buNone/>
            </a:pPr>
            <a:r>
              <a:rPr lang="en-US" sz="1400" i="1" dirty="0">
                <a:solidFill>
                  <a:srgbClr val="9AA4C4"/>
                </a:solidFill>
                <a:latin typeface="Calibri" pitchFamily="34" charset="0"/>
                <a:ea typeface="Calibri" pitchFamily="34" charset="-122"/>
                <a:cs typeface="Calibri" pitchFamily="34" charset="-120"/>
              </a:rPr>
              <a:t>Executive extends Manager, as before</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AA4C4"/>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658368"/>
            <a:ext cx="11064240" cy="731520"/>
          </a:xfrm>
          <a:prstGeom prst="rect">
            <a:avLst/>
          </a:prstGeom>
          <a:noFill/>
          <a:ln/>
        </p:spPr>
        <p:txBody>
          <a:bodyPr wrap="square" lIns="0" tIns="0" rIns="0" bIns="0" rtlCol="0" anchor="ctr"/>
          <a:lstStyle/>
          <a:p>
            <a:pPr algn="l" indent="0" marL="0">
              <a:buNone/>
            </a:pPr>
            <a:r>
              <a:rPr lang="en-US" sz="3200" b="1" dirty="0">
                <a:solidFill>
                  <a:srgbClr val="EAEEF9"/>
                </a:solidFill>
                <a:latin typeface="Cambria" pitchFamily="34" charset="0"/>
                <a:ea typeface="Cambria" pitchFamily="34" charset="-122"/>
                <a:cs typeface="Cambria" pitchFamily="34" charset="-120"/>
              </a:rPr>
              <a:t>An abstract class is a type you cannot instantiate</a:t>
            </a:r>
            <a:endParaRPr lang="en-US" sz="3200" dirty="0"/>
          </a:p>
        </p:txBody>
      </p:sp>
      <p:sp>
        <p:nvSpPr>
          <p:cNvPr id="3" name="Shape 1"/>
          <p:cNvSpPr/>
          <p:nvPr/>
        </p:nvSpPr>
        <p:spPr>
          <a:xfrm>
            <a:off x="566928" y="393192"/>
            <a:ext cx="118872" cy="118872"/>
          </a:xfrm>
          <a:prstGeom prst="ellipse">
            <a:avLst/>
          </a:prstGeom>
          <a:solidFill>
            <a:srgbClr val="58A6CC"/>
          </a:solidFill>
          <a:ln/>
        </p:spPr>
      </p:sp>
      <p:sp>
        <p:nvSpPr>
          <p:cNvPr id="4" name="Text 2"/>
          <p:cNvSpPr txBox="1"/>
          <p:nvPr/>
        </p:nvSpPr>
        <p:spPr>
          <a:xfrm>
            <a:off x="768096" y="320040"/>
            <a:ext cx="10515600" cy="274320"/>
          </a:xfrm>
          <a:prstGeom prst="rect">
            <a:avLst/>
          </a:prstGeom>
          <a:noFill/>
          <a:ln/>
        </p:spPr>
        <p:txBody>
          <a:bodyPr wrap="square" lIns="0" tIns="0" rIns="0" bIns="0" rtlCol="0" anchor="ctr"/>
          <a:lstStyle/>
          <a:p>
            <a:pPr indent="0" marL="0">
              <a:buNone/>
            </a:pPr>
            <a:r>
              <a:rPr lang="en-US" sz="1200" b="1" spc="250" kern="0" dirty="0">
                <a:solidFill>
                  <a:srgbClr val="58A6CC"/>
                </a:solidFill>
                <a:latin typeface="Calibri" pitchFamily="34" charset="0"/>
                <a:ea typeface="Calibri" pitchFamily="34" charset="-122"/>
                <a:cs typeface="Calibri" pitchFamily="34" charset="-120"/>
              </a:rPr>
              <a:t>ABSTRACT</a:t>
            </a:r>
            <a:endParaRPr lang="en-US" sz="1200" dirty="0"/>
          </a:p>
        </p:txBody>
      </p:sp>
      <p:sp>
        <p:nvSpPr>
          <p:cNvPr id="5" name="Shape 3"/>
          <p:cNvSpPr/>
          <p:nvPr/>
        </p:nvSpPr>
        <p:spPr>
          <a:xfrm>
            <a:off x="548640" y="1645920"/>
            <a:ext cx="7040880" cy="2996184"/>
          </a:xfrm>
          <a:prstGeom prst="roundRect">
            <a:avLst>
              <a:gd name="adj" fmla="val 1831"/>
            </a:avLst>
          </a:prstGeom>
          <a:solidFill>
            <a:srgbClr val="0E1124"/>
          </a:solidFill>
          <a:ln w="9525">
            <a:solidFill>
              <a:srgbClr val="5A66A6"/>
            </a:solidFill>
            <a:prstDash val="solid"/>
          </a:ln>
        </p:spPr>
      </p:sp>
      <p:sp>
        <p:nvSpPr>
          <p:cNvPr id="6" name="Text 4"/>
          <p:cNvSpPr txBox="1"/>
          <p:nvPr/>
        </p:nvSpPr>
        <p:spPr>
          <a:xfrm>
            <a:off x="731520" y="1755648"/>
            <a:ext cx="6675120" cy="2776728"/>
          </a:xfrm>
          <a:prstGeom prst="rect">
            <a:avLst/>
          </a:prstGeom>
          <a:noFill/>
          <a:ln/>
        </p:spPr>
        <p:txBody>
          <a:bodyPr wrap="square" lIns="0" tIns="0" rIns="0" bIns="0" rtlCol="0" anchor="t"/>
          <a:lstStyle/>
          <a:p>
            <a:pPr indent="0" marL="0">
              <a:lnSpc>
                <a:spcPct val="100000"/>
              </a:lnSpc>
              <a:buNone/>
            </a:pPr>
            <a:r>
              <a:rPr lang="en-US" sz="1400" dirty="0">
                <a:solidFill>
                  <a:srgbClr val="D7E3F4"/>
                </a:solidFill>
                <a:latin typeface="Courier New" pitchFamily="34" charset="0"/>
                <a:ea typeface="Courier New" pitchFamily="34" charset="-122"/>
                <a:cs typeface="Courier New" pitchFamily="34" charset="-120"/>
              </a:rPr>
              <a:t>public </a:t>
            </a:r>
            <a:pPr indent="0" marL="0">
              <a:lnSpc>
                <a:spcPct val="100000"/>
              </a:lnSpc>
              <a:buNone/>
            </a:pPr>
            <a:r>
              <a:rPr lang="en-US" sz="1400" b="1" dirty="0">
                <a:solidFill>
                  <a:srgbClr val="F4A261"/>
                </a:solidFill>
                <a:latin typeface="Courier New" pitchFamily="34" charset="0"/>
                <a:ea typeface="Courier New" pitchFamily="34" charset="-122"/>
                <a:cs typeface="Courier New" pitchFamily="34" charset="-120"/>
              </a:rPr>
              <a:t>abstract</a:t>
            </a:r>
            <a:pPr indent="0" marL="0">
              <a:lnSpc>
                <a:spcPct val="100000"/>
              </a:lnSpc>
              <a:buNone/>
            </a:pPr>
            <a:r>
              <a:rPr lang="en-US" sz="1400" dirty="0">
                <a:solidFill>
                  <a:srgbClr val="D7E3F4"/>
                </a:solidFill>
                <a:latin typeface="Courier New" pitchFamily="34" charset="0"/>
                <a:ea typeface="Courier New" pitchFamily="34" charset="-122"/>
                <a:cs typeface="Courier New" pitchFamily="34" charset="-120"/>
              </a:rPr>
              <a:t> class Employee {</a:t>
            </a:r>
            <a:endParaRPr lang="en-US" sz="1400" dirty="0"/>
          </a:p>
          <a:p>
            <a:pPr indent="0" marL="0">
              <a:lnSpc>
                <a:spcPct val="100000"/>
              </a:lnSpc>
              <a:buNone/>
            </a:pPr>
            <a:r>
              <a:rPr lang="en-US" sz="1400" dirty="0">
                <a:solidFill>
                  <a:srgbClr val="D7E3F4"/>
                </a:solidFill>
                <a:latin typeface="Courier New" pitchFamily="34" charset="0"/>
                <a:ea typeface="Courier New" pitchFamily="34" charset="-122"/>
                <a:cs typeface="Courier New" pitchFamily="34" charset="-120"/>
              </a:rPr>
              <a:t>    private final String id;</a:t>
            </a:r>
            <a:endParaRPr lang="en-US" sz="1400" dirty="0"/>
          </a:p>
          <a:p>
            <a:pPr indent="0" marL="0">
              <a:lnSpc>
                <a:spcPct val="100000"/>
              </a:lnSpc>
              <a:buNone/>
            </a:pPr>
            <a:r>
              <a:rPr lang="en-US" sz="1400" dirty="0">
                <a:solidFill>
                  <a:srgbClr val="D7E3F4"/>
                </a:solidFill>
                <a:latin typeface="Courier New" pitchFamily="34" charset="0"/>
                <a:ea typeface="Courier New" pitchFamily="34" charset="-122"/>
                <a:cs typeface="Courier New" pitchFamily="34" charset="-120"/>
              </a:rPr>
              <a:t>    private String name;</a:t>
            </a:r>
            <a:endParaRPr lang="en-US" sz="1400" dirty="0"/>
          </a:p>
          <a:p>
            <a:pPr indent="0" marL="0">
              <a:lnSpc>
                <a:spcPct val="100000"/>
              </a:lnSpc>
              <a:buNone/>
            </a:pPr>
            <a:r>
              <a:rPr lang="en-US" sz="1400" dirty="0">
                <a:solidFill>
                  <a:srgbClr val="D7E3F4"/>
                </a:solidFill>
                <a:latin typeface="Courier New" pitchFamily="34" charset="0"/>
                <a:ea typeface="Courier New" pitchFamily="34" charset="-122"/>
                <a:cs typeface="Courier New" pitchFamily="34" charset="-120"/>
              </a:rPr>
              <a:t> </a:t>
            </a:r>
            <a:endParaRPr lang="en-US" sz="1400" dirty="0"/>
          </a:p>
          <a:p>
            <a:pPr indent="0" marL="0">
              <a:lnSpc>
                <a:spcPct val="100000"/>
              </a:lnSpc>
              <a:buNone/>
            </a:pPr>
            <a:r>
              <a:rPr lang="en-US" sz="1400" dirty="0">
                <a:solidFill>
                  <a:srgbClr val="D7E3F4"/>
                </a:solidFill>
                <a:latin typeface="Courier New" pitchFamily="34" charset="0"/>
                <a:ea typeface="Courier New" pitchFamily="34" charset="-122"/>
                <a:cs typeface="Courier New" pitchFamily="34" charset="-120"/>
              </a:rPr>
              <a:t>    protected Employee(String name) { ... }</a:t>
            </a:r>
            <a:pPr indent="0" marL="0">
              <a:lnSpc>
                <a:spcPct val="100000"/>
              </a:lnSpc>
              <a:buNone/>
            </a:pPr>
            <a:r>
              <a:rPr lang="en-US" sz="1400" b="1" dirty="0">
                <a:solidFill>
                  <a:srgbClr val="9AA4C4"/>
                </a:solidFill>
                <a:latin typeface="Courier New" pitchFamily="34" charset="0"/>
                <a:ea typeface="Courier New" pitchFamily="34" charset="-122"/>
                <a:cs typeface="Courier New" pitchFamily="34" charset="-120"/>
              </a:rPr>
              <a:t>  // still has one</a:t>
            </a:r>
            <a:endParaRPr lang="en-US" sz="1400" dirty="0"/>
          </a:p>
          <a:p>
            <a:pPr indent="0" marL="0">
              <a:lnSpc>
                <a:spcPct val="100000"/>
              </a:lnSpc>
              <a:buNone/>
            </a:pPr>
            <a:r>
              <a:rPr lang="en-US" sz="1400" dirty="0">
                <a:solidFill>
                  <a:srgbClr val="D7E3F4"/>
                </a:solidFill>
                <a:latin typeface="Courier New" pitchFamily="34" charset="0"/>
                <a:ea typeface="Courier New" pitchFamily="34" charset="-122"/>
                <a:cs typeface="Courier New" pitchFamily="34" charset="-120"/>
              </a:rPr>
              <a:t> </a:t>
            </a:r>
            <a:endParaRPr lang="en-US" sz="1400" dirty="0"/>
          </a:p>
          <a:p>
            <a:pPr indent="0" marL="0">
              <a:lnSpc>
                <a:spcPct val="100000"/>
              </a:lnSpc>
              <a:buNone/>
            </a:pPr>
            <a:r>
              <a:rPr lang="en-US" sz="1400" dirty="0">
                <a:solidFill>
                  <a:srgbClr val="D7E3F4"/>
                </a:solidFill>
                <a:latin typeface="Courier New" pitchFamily="34" charset="0"/>
                <a:ea typeface="Courier New" pitchFamily="34" charset="-122"/>
                <a:cs typeface="Courier New" pitchFamily="34" charset="-120"/>
              </a:rPr>
              <a:t>    public </a:t>
            </a:r>
            <a:pPr indent="0" marL="0">
              <a:lnSpc>
                <a:spcPct val="100000"/>
              </a:lnSpc>
              <a:buNone/>
            </a:pPr>
            <a:r>
              <a:rPr lang="en-US" sz="1400" b="1" dirty="0">
                <a:solidFill>
                  <a:srgbClr val="F4A261"/>
                </a:solidFill>
                <a:latin typeface="Courier New" pitchFamily="34" charset="0"/>
                <a:ea typeface="Courier New" pitchFamily="34" charset="-122"/>
                <a:cs typeface="Courier New" pitchFamily="34" charset="-120"/>
              </a:rPr>
              <a:t>abstract</a:t>
            </a:r>
            <a:pPr indent="0" marL="0">
              <a:lnSpc>
                <a:spcPct val="100000"/>
              </a:lnSpc>
              <a:buNone/>
            </a:pPr>
            <a:r>
              <a:rPr lang="en-US" sz="1400" dirty="0">
                <a:solidFill>
                  <a:srgbClr val="D7E3F4"/>
                </a:solidFill>
                <a:latin typeface="Courier New" pitchFamily="34" charset="0"/>
                <a:ea typeface="Courier New" pitchFamily="34" charset="-122"/>
                <a:cs typeface="Courier New" pitchFamily="34" charset="-120"/>
              </a:rPr>
              <a:t> double getMonthlyPay();</a:t>
            </a:r>
            <a:pPr indent="0" marL="0">
              <a:lnSpc>
                <a:spcPct val="100000"/>
              </a:lnSpc>
              <a:buNone/>
            </a:pPr>
            <a:r>
              <a:rPr lang="en-US" sz="1400" b="1" dirty="0">
                <a:solidFill>
                  <a:srgbClr val="9AA4C4"/>
                </a:solidFill>
                <a:latin typeface="Courier New" pitchFamily="34" charset="0"/>
                <a:ea typeface="Courier New" pitchFamily="34" charset="-122"/>
                <a:cs typeface="Courier New" pitchFamily="34" charset="-120"/>
              </a:rPr>
              <a:t>   // no body</a:t>
            </a:r>
            <a:endParaRPr lang="en-US" sz="1400" dirty="0"/>
          </a:p>
          <a:p>
            <a:pPr indent="0" marL="0">
              <a:lnSpc>
                <a:spcPct val="100000"/>
              </a:lnSpc>
              <a:buNone/>
            </a:pPr>
            <a:r>
              <a:rPr lang="en-US" sz="1400" dirty="0">
                <a:solidFill>
                  <a:srgbClr val="D7E3F4"/>
                </a:solidFill>
                <a:latin typeface="Courier New" pitchFamily="34" charset="0"/>
                <a:ea typeface="Courier New" pitchFamily="34" charset="-122"/>
                <a:cs typeface="Courier New" pitchFamily="34" charset="-120"/>
              </a:rPr>
              <a:t> </a:t>
            </a:r>
            <a:endParaRPr lang="en-US" sz="1400" dirty="0"/>
          </a:p>
          <a:p>
            <a:pPr indent="0" marL="0">
              <a:lnSpc>
                <a:spcPct val="100000"/>
              </a:lnSpc>
              <a:buNone/>
            </a:pPr>
            <a:r>
              <a:rPr lang="en-US" sz="1400" dirty="0">
                <a:solidFill>
                  <a:srgbClr val="D7E3F4"/>
                </a:solidFill>
                <a:latin typeface="Courier New" pitchFamily="34" charset="0"/>
                <a:ea typeface="Courier New" pitchFamily="34" charset="-122"/>
                <a:cs typeface="Courier New" pitchFamily="34" charset="-120"/>
              </a:rPr>
              <a:t>    public String toString() {   // calls the abstract method</a:t>
            </a:r>
            <a:endParaRPr lang="en-US" sz="1400" dirty="0"/>
          </a:p>
          <a:p>
            <a:pPr indent="0" marL="0">
              <a:lnSpc>
                <a:spcPct val="100000"/>
              </a:lnSpc>
              <a:buNone/>
            </a:pPr>
            <a:r>
              <a:rPr lang="en-US" sz="1400" dirty="0">
                <a:solidFill>
                  <a:srgbClr val="D7E3F4"/>
                </a:solidFill>
                <a:latin typeface="Courier New" pitchFamily="34" charset="0"/>
                <a:ea typeface="Courier New" pitchFamily="34" charset="-122"/>
                <a:cs typeface="Courier New" pitchFamily="34" charset="-120"/>
              </a:rPr>
              <a:t>        return id + " " + name + ", " + getMonthlyPay();</a:t>
            </a:r>
            <a:endParaRPr lang="en-US" sz="1400" dirty="0"/>
          </a:p>
          <a:p>
            <a:pPr indent="0" marL="0">
              <a:lnSpc>
                <a:spcPct val="100000"/>
              </a:lnSpc>
              <a:buNone/>
            </a:pPr>
            <a:r>
              <a:rPr lang="en-US" sz="1400" dirty="0">
                <a:solidFill>
                  <a:srgbClr val="D7E3F4"/>
                </a:solidFill>
                <a:latin typeface="Courier New" pitchFamily="34" charset="0"/>
                <a:ea typeface="Courier New" pitchFamily="34" charset="-122"/>
                <a:cs typeface="Courier New" pitchFamily="34" charset="-120"/>
              </a:rPr>
              <a:t>    }</a:t>
            </a:r>
            <a:endParaRPr lang="en-US" sz="1400" dirty="0"/>
          </a:p>
          <a:p>
            <a:pPr indent="0" marL="0">
              <a:lnSpc>
                <a:spcPct val="100000"/>
              </a:lnSpc>
              <a:buNone/>
            </a:pPr>
            <a:r>
              <a:rPr lang="en-US" sz="1400" dirty="0">
                <a:solidFill>
                  <a:srgbClr val="D7E3F4"/>
                </a:solidFill>
                <a:latin typeface="Courier New" pitchFamily="34" charset="0"/>
                <a:ea typeface="Courier New" pitchFamily="34" charset="-122"/>
                <a:cs typeface="Courier New" pitchFamily="34" charset="-120"/>
              </a:rPr>
              <a:t>}</a:t>
            </a:r>
            <a:endParaRPr lang="en-US" sz="1400" dirty="0"/>
          </a:p>
        </p:txBody>
      </p:sp>
      <p:sp>
        <p:nvSpPr>
          <p:cNvPr id="7" name="Shape 5"/>
          <p:cNvSpPr/>
          <p:nvPr/>
        </p:nvSpPr>
        <p:spPr>
          <a:xfrm>
            <a:off x="7863840" y="1645920"/>
            <a:ext cx="3749040" cy="914400"/>
          </a:xfrm>
          <a:prstGeom prst="roundRect">
            <a:avLst>
              <a:gd name="adj" fmla="val 8000"/>
            </a:avLst>
          </a:prstGeom>
          <a:solidFill>
            <a:srgbClr val="2E3660"/>
          </a:solidFill>
          <a:ln w="15875">
            <a:solidFill>
              <a:srgbClr val="5A66A6"/>
            </a:solidFill>
            <a:prstDash val="solid"/>
          </a:ln>
        </p:spPr>
      </p:sp>
      <p:sp>
        <p:nvSpPr>
          <p:cNvPr id="8" name="Text 6"/>
          <p:cNvSpPr txBox="1"/>
          <p:nvPr/>
        </p:nvSpPr>
        <p:spPr>
          <a:xfrm>
            <a:off x="8065008" y="1810512"/>
            <a:ext cx="3346704" cy="640080"/>
          </a:xfrm>
          <a:prstGeom prst="rect">
            <a:avLst/>
          </a:prstGeom>
          <a:noFill/>
          <a:ln/>
        </p:spPr>
        <p:txBody>
          <a:bodyPr wrap="square" lIns="0" tIns="0" rIns="0" bIns="0" rtlCol="0" anchor="t"/>
          <a:lstStyle/>
          <a:p>
            <a:pPr indent="0" marL="0">
              <a:spcAft>
                <a:spcPts val="400"/>
              </a:spcAft>
              <a:buNone/>
            </a:pPr>
            <a:r>
              <a:rPr lang="en-US" sz="1400" dirty="0">
                <a:solidFill>
                  <a:srgbClr val="EAEEF9"/>
                </a:solidFill>
                <a:latin typeface="Calibri" pitchFamily="34" charset="0"/>
                <a:ea typeface="Calibri" pitchFamily="34" charset="-122"/>
                <a:cs typeface="Calibri" pitchFamily="34" charset="-120"/>
              </a:rPr>
              <a:t>new Employee(...) does not compile: “Employee is abstract; cannot be instantiated.”</a:t>
            </a:r>
            <a:endParaRPr lang="en-US" sz="1400" dirty="0"/>
          </a:p>
        </p:txBody>
      </p:sp>
      <p:sp>
        <p:nvSpPr>
          <p:cNvPr id="9" name="Shape 7"/>
          <p:cNvSpPr/>
          <p:nvPr/>
        </p:nvSpPr>
        <p:spPr>
          <a:xfrm>
            <a:off x="7863840" y="2670048"/>
            <a:ext cx="3749040" cy="914400"/>
          </a:xfrm>
          <a:prstGeom prst="roundRect">
            <a:avLst>
              <a:gd name="adj" fmla="val 8000"/>
            </a:avLst>
          </a:prstGeom>
          <a:solidFill>
            <a:srgbClr val="242B50"/>
          </a:solidFill>
          <a:ln w="15875">
            <a:solidFill>
              <a:srgbClr val="5A66A6"/>
            </a:solidFill>
            <a:prstDash val="solid"/>
          </a:ln>
        </p:spPr>
      </p:sp>
      <p:sp>
        <p:nvSpPr>
          <p:cNvPr id="10" name="Text 8"/>
          <p:cNvSpPr txBox="1"/>
          <p:nvPr/>
        </p:nvSpPr>
        <p:spPr>
          <a:xfrm>
            <a:off x="8065008" y="2834640"/>
            <a:ext cx="3346704" cy="640080"/>
          </a:xfrm>
          <a:prstGeom prst="rect">
            <a:avLst/>
          </a:prstGeom>
          <a:noFill/>
          <a:ln/>
        </p:spPr>
        <p:txBody>
          <a:bodyPr wrap="square" lIns="0" tIns="0" rIns="0" bIns="0" rtlCol="0" anchor="t"/>
          <a:lstStyle/>
          <a:p>
            <a:pPr indent="0" marL="0">
              <a:spcAft>
                <a:spcPts val="400"/>
              </a:spcAft>
              <a:buNone/>
            </a:pPr>
            <a:r>
              <a:rPr lang="en-US" sz="1400" dirty="0">
                <a:solidFill>
                  <a:srgbClr val="EAEEF9"/>
                </a:solidFill>
                <a:latin typeface="Calibri" pitchFamily="34" charset="0"/>
                <a:ea typeface="Calibri" pitchFamily="34" charset="-122"/>
                <a:cs typeface="Calibri" pitchFamily="34" charset="-120"/>
              </a:rPr>
              <a:t>Every concrete subclass must supply every abstract method.</a:t>
            </a:r>
            <a:endParaRPr lang="en-US" sz="1400" dirty="0"/>
          </a:p>
        </p:txBody>
      </p:sp>
      <p:sp>
        <p:nvSpPr>
          <p:cNvPr id="11" name="Shape 9"/>
          <p:cNvSpPr/>
          <p:nvPr/>
        </p:nvSpPr>
        <p:spPr>
          <a:xfrm>
            <a:off x="7863840" y="3694176"/>
            <a:ext cx="3749040" cy="914400"/>
          </a:xfrm>
          <a:prstGeom prst="roundRect">
            <a:avLst>
              <a:gd name="adj" fmla="val 8000"/>
            </a:avLst>
          </a:prstGeom>
          <a:solidFill>
            <a:srgbClr val="242B50"/>
          </a:solidFill>
          <a:ln w="15875">
            <a:solidFill>
              <a:srgbClr val="5A66A6"/>
            </a:solidFill>
            <a:prstDash val="solid"/>
          </a:ln>
        </p:spPr>
      </p:sp>
      <p:sp>
        <p:nvSpPr>
          <p:cNvPr id="12" name="Text 10"/>
          <p:cNvSpPr txBox="1"/>
          <p:nvPr/>
        </p:nvSpPr>
        <p:spPr>
          <a:xfrm>
            <a:off x="8065008" y="3858768"/>
            <a:ext cx="3346704" cy="640080"/>
          </a:xfrm>
          <a:prstGeom prst="rect">
            <a:avLst/>
          </a:prstGeom>
          <a:noFill/>
          <a:ln/>
        </p:spPr>
        <p:txBody>
          <a:bodyPr wrap="square" lIns="0" tIns="0" rIns="0" bIns="0" rtlCol="0" anchor="t"/>
          <a:lstStyle/>
          <a:p>
            <a:pPr indent="0" marL="0">
              <a:spcAft>
                <a:spcPts val="400"/>
              </a:spcAft>
              <a:buNone/>
            </a:pPr>
            <a:r>
              <a:rPr lang="en-US" sz="1400" dirty="0">
                <a:solidFill>
                  <a:srgbClr val="EAEEF9"/>
                </a:solidFill>
                <a:latin typeface="Calibri" pitchFamily="34" charset="0"/>
                <a:ea typeface="Calibri" pitchFamily="34" charset="-122"/>
                <a:cs typeface="Calibri" pitchFamily="34" charset="-120"/>
              </a:rPr>
              <a:t>It can still have fields, constructors, and concrete methods.</a:t>
            </a:r>
            <a:endParaRPr lang="en-US" sz="1400" dirty="0"/>
          </a:p>
        </p:txBody>
      </p:sp>
      <p:sp>
        <p:nvSpPr>
          <p:cNvPr id="13" name="Shape 11"/>
          <p:cNvSpPr/>
          <p:nvPr/>
        </p:nvSpPr>
        <p:spPr>
          <a:xfrm>
            <a:off x="7863840" y="4718304"/>
            <a:ext cx="3749040" cy="914400"/>
          </a:xfrm>
          <a:prstGeom prst="roundRect">
            <a:avLst>
              <a:gd name="adj" fmla="val 8000"/>
            </a:avLst>
          </a:prstGeom>
          <a:solidFill>
            <a:srgbClr val="242B50"/>
          </a:solidFill>
          <a:ln w="15875">
            <a:solidFill>
              <a:srgbClr val="5A66A6"/>
            </a:solidFill>
            <a:prstDash val="solid"/>
          </a:ln>
        </p:spPr>
      </p:sp>
      <p:sp>
        <p:nvSpPr>
          <p:cNvPr id="14" name="Text 12"/>
          <p:cNvSpPr txBox="1"/>
          <p:nvPr/>
        </p:nvSpPr>
        <p:spPr>
          <a:xfrm>
            <a:off x="8065008" y="4882896"/>
            <a:ext cx="3346704" cy="640080"/>
          </a:xfrm>
          <a:prstGeom prst="rect">
            <a:avLst/>
          </a:prstGeom>
          <a:noFill/>
          <a:ln/>
        </p:spPr>
        <p:txBody>
          <a:bodyPr wrap="square" lIns="0" tIns="0" rIns="0" bIns="0" rtlCol="0" anchor="t"/>
          <a:lstStyle/>
          <a:p>
            <a:pPr indent="0" marL="0">
              <a:spcAft>
                <a:spcPts val="400"/>
              </a:spcAft>
              <a:buNone/>
            </a:pPr>
            <a:r>
              <a:rPr lang="en-US" sz="1400" dirty="0">
                <a:solidFill>
                  <a:srgbClr val="EAEEF9"/>
                </a:solidFill>
                <a:latin typeface="Calibri" pitchFamily="34" charset="0"/>
                <a:ea typeface="Calibri" pitchFamily="34" charset="-122"/>
                <a:cs typeface="Calibri" pitchFamily="34" charset="-120"/>
              </a:rPr>
              <a:t>It is still a type: Employee[] and ArrayList&lt;Employee&gt; work as before.</a:t>
            </a:r>
            <a:endParaRPr lang="en-US" sz="1400" dirty="0"/>
          </a:p>
        </p:txBody>
      </p:sp>
      <p:sp>
        <p:nvSpPr>
          <p:cNvPr id="15" name="Text 13"/>
          <p:cNvSpPr txBox="1"/>
          <p:nvPr/>
        </p:nvSpPr>
        <p:spPr>
          <a:xfrm>
            <a:off x="548640" y="5897880"/>
            <a:ext cx="10424160" cy="411480"/>
          </a:xfrm>
          <a:prstGeom prst="rect">
            <a:avLst/>
          </a:prstGeom>
          <a:noFill/>
          <a:ln/>
        </p:spPr>
        <p:txBody>
          <a:bodyPr wrap="square" lIns="0" tIns="0" rIns="0" bIns="0" rtlCol="0" anchor="t"/>
          <a:lstStyle/>
          <a:p>
            <a:pPr indent="0" marL="0">
              <a:buNone/>
            </a:pPr>
            <a:r>
              <a:rPr lang="en-US" sz="1500" i="1" dirty="0">
                <a:solidFill>
                  <a:srgbClr val="9AA4C4"/>
                </a:solidFill>
                <a:latin typeface="Calibri" pitchFamily="34" charset="0"/>
                <a:ea typeface="Calibri" pitchFamily="34" charset="-122"/>
                <a:cs typeface="Calibri" pitchFamily="34" charset="-120"/>
              </a:rPr>
              <a:t>Concrete class: one you can instantiate. An abstract class may have no abstract methods at all.</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AA4C4"/>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658368"/>
            <a:ext cx="11064240" cy="731520"/>
          </a:xfrm>
          <a:prstGeom prst="rect">
            <a:avLst/>
          </a:prstGeom>
          <a:noFill/>
          <a:ln/>
        </p:spPr>
        <p:txBody>
          <a:bodyPr wrap="square" lIns="0" tIns="0" rIns="0" bIns="0" rtlCol="0" anchor="ctr"/>
          <a:lstStyle/>
          <a:p>
            <a:pPr algn="l" indent="0" marL="0">
              <a:buNone/>
            </a:pPr>
            <a:r>
              <a:rPr lang="en-US" sz="3200" b="1" dirty="0">
                <a:solidFill>
                  <a:srgbClr val="EAEEF9"/>
                </a:solidFill>
                <a:latin typeface="Cambria" pitchFamily="34" charset="0"/>
                <a:ea typeface="Cambria" pitchFamily="34" charset="-122"/>
                <a:cs typeface="Cambria" pitchFamily="34" charset="-120"/>
              </a:rPr>
              <a:t>final closes a variable, a method, or a class</a:t>
            </a:r>
            <a:endParaRPr lang="en-US" sz="3200" dirty="0"/>
          </a:p>
        </p:txBody>
      </p:sp>
      <p:sp>
        <p:nvSpPr>
          <p:cNvPr id="3" name="Shape 1"/>
          <p:cNvSpPr/>
          <p:nvPr/>
        </p:nvSpPr>
        <p:spPr>
          <a:xfrm>
            <a:off x="566928" y="393192"/>
            <a:ext cx="118872" cy="118872"/>
          </a:xfrm>
          <a:prstGeom prst="ellipse">
            <a:avLst/>
          </a:prstGeom>
          <a:solidFill>
            <a:srgbClr val="58A6CC"/>
          </a:solidFill>
          <a:ln/>
        </p:spPr>
      </p:sp>
      <p:sp>
        <p:nvSpPr>
          <p:cNvPr id="4" name="Text 2"/>
          <p:cNvSpPr txBox="1"/>
          <p:nvPr/>
        </p:nvSpPr>
        <p:spPr>
          <a:xfrm>
            <a:off x="768096" y="320040"/>
            <a:ext cx="10515600" cy="274320"/>
          </a:xfrm>
          <a:prstGeom prst="rect">
            <a:avLst/>
          </a:prstGeom>
          <a:noFill/>
          <a:ln/>
        </p:spPr>
        <p:txBody>
          <a:bodyPr wrap="square" lIns="0" tIns="0" rIns="0" bIns="0" rtlCol="0" anchor="ctr"/>
          <a:lstStyle/>
          <a:p>
            <a:pPr indent="0" marL="0">
              <a:buNone/>
            </a:pPr>
            <a:r>
              <a:rPr lang="en-US" sz="1200" b="1" spc="250" kern="0" dirty="0">
                <a:solidFill>
                  <a:srgbClr val="58A6CC"/>
                </a:solidFill>
                <a:latin typeface="Calibri" pitchFamily="34" charset="0"/>
                <a:ea typeface="Calibri" pitchFamily="34" charset="-122"/>
                <a:cs typeface="Calibri" pitchFamily="34" charset="-120"/>
              </a:rPr>
              <a:t>FINAL</a:t>
            </a:r>
            <a:endParaRPr lang="en-US" sz="1200" dirty="0"/>
          </a:p>
        </p:txBody>
      </p:sp>
      <p:sp>
        <p:nvSpPr>
          <p:cNvPr id="5" name="Shape 3"/>
          <p:cNvSpPr/>
          <p:nvPr/>
        </p:nvSpPr>
        <p:spPr>
          <a:xfrm>
            <a:off x="548640" y="1645920"/>
            <a:ext cx="3520440" cy="2331720"/>
          </a:xfrm>
          <a:prstGeom prst="roundRect">
            <a:avLst>
              <a:gd name="adj" fmla="val 3137"/>
            </a:avLst>
          </a:prstGeom>
          <a:solidFill>
            <a:srgbClr val="242B50"/>
          </a:solidFill>
          <a:ln w="15875">
            <a:solidFill>
              <a:srgbClr val="5A66A6"/>
            </a:solidFill>
            <a:prstDash val="solid"/>
          </a:ln>
        </p:spPr>
      </p:sp>
      <p:sp>
        <p:nvSpPr>
          <p:cNvPr id="6" name="Text 4"/>
          <p:cNvSpPr txBox="1"/>
          <p:nvPr/>
        </p:nvSpPr>
        <p:spPr>
          <a:xfrm>
            <a:off x="749808" y="1810512"/>
            <a:ext cx="3118104" cy="411480"/>
          </a:xfrm>
          <a:prstGeom prst="rect">
            <a:avLst/>
          </a:prstGeom>
          <a:noFill/>
          <a:ln/>
        </p:spPr>
        <p:txBody>
          <a:bodyPr wrap="square" lIns="0" tIns="0" rIns="0" bIns="0" rtlCol="0" anchor="ctr"/>
          <a:lstStyle/>
          <a:p>
            <a:pPr indent="0" marL="0">
              <a:buNone/>
            </a:pPr>
            <a:r>
              <a:rPr lang="en-US" sz="2000" b="1" dirty="0">
                <a:solidFill>
                  <a:srgbClr val="58A6CC"/>
                </a:solidFill>
                <a:latin typeface="Cambria" pitchFamily="34" charset="0"/>
                <a:ea typeface="Cambria" pitchFamily="34" charset="-122"/>
                <a:cs typeface="Cambria" pitchFamily="34" charset="-120"/>
              </a:rPr>
              <a:t>Variable or field</a:t>
            </a:r>
            <a:endParaRPr lang="en-US" sz="2000" dirty="0"/>
          </a:p>
        </p:txBody>
      </p:sp>
      <p:sp>
        <p:nvSpPr>
          <p:cNvPr id="7" name="Text 5"/>
          <p:cNvSpPr txBox="1"/>
          <p:nvPr/>
        </p:nvSpPr>
        <p:spPr>
          <a:xfrm>
            <a:off x="749808" y="2295144"/>
            <a:ext cx="3118104" cy="1572768"/>
          </a:xfrm>
          <a:prstGeom prst="rect">
            <a:avLst/>
          </a:prstGeom>
          <a:noFill/>
          <a:ln/>
        </p:spPr>
        <p:txBody>
          <a:bodyPr wrap="square" lIns="0" tIns="0" rIns="0" bIns="0" rtlCol="0" anchor="t"/>
          <a:lstStyle/>
          <a:p>
            <a:pPr indent="0" marL="0">
              <a:spcAft>
                <a:spcPts val="400"/>
              </a:spcAft>
              <a:buNone/>
            </a:pPr>
            <a:r>
              <a:rPr lang="en-US" sz="1600" dirty="0">
                <a:solidFill>
                  <a:srgbClr val="EAEEF9"/>
                </a:solidFill>
                <a:latin typeface="Calibri" pitchFamily="34" charset="0"/>
                <a:ea typeface="Calibri" pitchFamily="34" charset="-122"/>
                <a:cs typeface="Calibri" pitchFamily="34" charset="-120"/>
              </a:rPr>
              <a:t>Assigned only once. Unrelated to inheritance.</a:t>
            </a:r>
            <a:endParaRPr lang="en-US" sz="1600" dirty="0"/>
          </a:p>
        </p:txBody>
      </p:sp>
      <p:sp>
        <p:nvSpPr>
          <p:cNvPr id="8" name="Shape 6"/>
          <p:cNvSpPr/>
          <p:nvPr/>
        </p:nvSpPr>
        <p:spPr>
          <a:xfrm>
            <a:off x="548640" y="4160520"/>
            <a:ext cx="3520440" cy="519684"/>
          </a:xfrm>
          <a:prstGeom prst="roundRect">
            <a:avLst>
              <a:gd name="adj" fmla="val 10557"/>
            </a:avLst>
          </a:prstGeom>
          <a:solidFill>
            <a:srgbClr val="0E1124"/>
          </a:solidFill>
          <a:ln w="9525">
            <a:solidFill>
              <a:srgbClr val="5A66A6"/>
            </a:solidFill>
            <a:prstDash val="solid"/>
          </a:ln>
        </p:spPr>
      </p:sp>
      <p:sp>
        <p:nvSpPr>
          <p:cNvPr id="9" name="Text 7"/>
          <p:cNvSpPr txBox="1"/>
          <p:nvPr/>
        </p:nvSpPr>
        <p:spPr>
          <a:xfrm>
            <a:off x="731520" y="4270248"/>
            <a:ext cx="3154680" cy="300228"/>
          </a:xfrm>
          <a:prstGeom prst="rect">
            <a:avLst/>
          </a:prstGeom>
          <a:noFill/>
          <a:ln/>
        </p:spPr>
        <p:txBody>
          <a:bodyPr wrap="square" lIns="0" tIns="0" rIns="0" bIns="0" rtlCol="0" anchor="t"/>
          <a:lstStyle/>
          <a:p>
            <a:pPr indent="0" marL="0">
              <a:lnSpc>
                <a:spcPct val="100000"/>
              </a:lnSpc>
              <a:buNone/>
            </a:pPr>
            <a:r>
              <a:rPr lang="en-US" sz="1200" dirty="0">
                <a:solidFill>
                  <a:srgbClr val="D7E3F4"/>
                </a:solidFill>
                <a:latin typeface="Courier New" pitchFamily="34" charset="0"/>
                <a:ea typeface="Courier New" pitchFamily="34" charset="-122"/>
                <a:cs typeface="Courier New" pitchFamily="34" charset="-120"/>
              </a:rPr>
              <a:t>private final String id;</a:t>
            </a:r>
            <a:endParaRPr lang="en-US" sz="1200" dirty="0"/>
          </a:p>
        </p:txBody>
      </p:sp>
      <p:sp>
        <p:nvSpPr>
          <p:cNvPr id="10" name="Shape 8"/>
          <p:cNvSpPr/>
          <p:nvPr/>
        </p:nvSpPr>
        <p:spPr>
          <a:xfrm>
            <a:off x="4297680" y="1645920"/>
            <a:ext cx="3520440" cy="2331720"/>
          </a:xfrm>
          <a:prstGeom prst="roundRect">
            <a:avLst>
              <a:gd name="adj" fmla="val 3137"/>
            </a:avLst>
          </a:prstGeom>
          <a:solidFill>
            <a:srgbClr val="242B50"/>
          </a:solidFill>
          <a:ln w="15875">
            <a:solidFill>
              <a:srgbClr val="5A66A6"/>
            </a:solidFill>
            <a:prstDash val="solid"/>
          </a:ln>
        </p:spPr>
      </p:sp>
      <p:sp>
        <p:nvSpPr>
          <p:cNvPr id="11" name="Text 9"/>
          <p:cNvSpPr txBox="1"/>
          <p:nvPr/>
        </p:nvSpPr>
        <p:spPr>
          <a:xfrm>
            <a:off x="4498848" y="1810512"/>
            <a:ext cx="3118104" cy="411480"/>
          </a:xfrm>
          <a:prstGeom prst="rect">
            <a:avLst/>
          </a:prstGeom>
          <a:noFill/>
          <a:ln/>
        </p:spPr>
        <p:txBody>
          <a:bodyPr wrap="square" lIns="0" tIns="0" rIns="0" bIns="0" rtlCol="0" anchor="ctr"/>
          <a:lstStyle/>
          <a:p>
            <a:pPr indent="0" marL="0">
              <a:buNone/>
            </a:pPr>
            <a:r>
              <a:rPr lang="en-US" sz="2000" b="1" dirty="0">
                <a:solidFill>
                  <a:srgbClr val="F4A261"/>
                </a:solidFill>
                <a:latin typeface="Cambria" pitchFamily="34" charset="0"/>
                <a:ea typeface="Cambria" pitchFamily="34" charset="-122"/>
                <a:cs typeface="Cambria" pitchFamily="34" charset="-120"/>
              </a:rPr>
              <a:t>Method</a:t>
            </a:r>
            <a:endParaRPr lang="en-US" sz="2000" dirty="0"/>
          </a:p>
        </p:txBody>
      </p:sp>
      <p:sp>
        <p:nvSpPr>
          <p:cNvPr id="12" name="Text 10"/>
          <p:cNvSpPr txBox="1"/>
          <p:nvPr/>
        </p:nvSpPr>
        <p:spPr>
          <a:xfrm>
            <a:off x="4498848" y="2295144"/>
            <a:ext cx="3118104" cy="1572768"/>
          </a:xfrm>
          <a:prstGeom prst="rect">
            <a:avLst/>
          </a:prstGeom>
          <a:noFill/>
          <a:ln/>
        </p:spPr>
        <p:txBody>
          <a:bodyPr wrap="square" lIns="0" tIns="0" rIns="0" bIns="0" rtlCol="0" anchor="t"/>
          <a:lstStyle/>
          <a:p>
            <a:pPr indent="0" marL="0">
              <a:spcAft>
                <a:spcPts val="400"/>
              </a:spcAft>
              <a:buNone/>
            </a:pPr>
            <a:r>
              <a:rPr lang="en-US" sz="1600" dirty="0">
                <a:solidFill>
                  <a:srgbClr val="EAEEF9"/>
                </a:solidFill>
                <a:latin typeface="Calibri" pitchFamily="34" charset="0"/>
                <a:ea typeface="Calibri" pitchFamily="34" charset="-122"/>
                <a:cs typeface="Calibri" pitchFamily="34" charset="-120"/>
              </a:rPr>
              <a:t>Cannot be overridden by any subclass.</a:t>
            </a:r>
            <a:endParaRPr lang="en-US" sz="1600" dirty="0"/>
          </a:p>
        </p:txBody>
      </p:sp>
      <p:sp>
        <p:nvSpPr>
          <p:cNvPr id="13" name="Shape 11"/>
          <p:cNvSpPr/>
          <p:nvPr/>
        </p:nvSpPr>
        <p:spPr>
          <a:xfrm>
            <a:off x="4297680" y="4160520"/>
            <a:ext cx="3520440" cy="519684"/>
          </a:xfrm>
          <a:prstGeom prst="roundRect">
            <a:avLst>
              <a:gd name="adj" fmla="val 10557"/>
            </a:avLst>
          </a:prstGeom>
          <a:solidFill>
            <a:srgbClr val="0E1124"/>
          </a:solidFill>
          <a:ln w="9525">
            <a:solidFill>
              <a:srgbClr val="5A66A6"/>
            </a:solidFill>
            <a:prstDash val="solid"/>
          </a:ln>
        </p:spPr>
      </p:sp>
      <p:sp>
        <p:nvSpPr>
          <p:cNvPr id="14" name="Text 12"/>
          <p:cNvSpPr txBox="1"/>
          <p:nvPr/>
        </p:nvSpPr>
        <p:spPr>
          <a:xfrm>
            <a:off x="4480560" y="4270248"/>
            <a:ext cx="3154680" cy="300228"/>
          </a:xfrm>
          <a:prstGeom prst="rect">
            <a:avLst/>
          </a:prstGeom>
          <a:noFill/>
          <a:ln/>
        </p:spPr>
        <p:txBody>
          <a:bodyPr wrap="square" lIns="0" tIns="0" rIns="0" bIns="0" rtlCol="0" anchor="t"/>
          <a:lstStyle/>
          <a:p>
            <a:pPr indent="0" marL="0">
              <a:lnSpc>
                <a:spcPct val="100000"/>
              </a:lnSpc>
              <a:buNone/>
            </a:pPr>
            <a:r>
              <a:rPr lang="en-US" sz="1200" dirty="0">
                <a:solidFill>
                  <a:srgbClr val="D7E3F4"/>
                </a:solidFill>
                <a:latin typeface="Courier New" pitchFamily="34" charset="0"/>
                <a:ea typeface="Courier New" pitchFamily="34" charset="-122"/>
                <a:cs typeface="Courier New" pitchFamily="34" charset="-120"/>
              </a:rPr>
              <a:t>public final boolean equals(...)</a:t>
            </a:r>
            <a:endParaRPr lang="en-US" sz="1200" dirty="0"/>
          </a:p>
        </p:txBody>
      </p:sp>
      <p:sp>
        <p:nvSpPr>
          <p:cNvPr id="15" name="Shape 13"/>
          <p:cNvSpPr/>
          <p:nvPr/>
        </p:nvSpPr>
        <p:spPr>
          <a:xfrm>
            <a:off x="8046720" y="1645920"/>
            <a:ext cx="3520440" cy="2331720"/>
          </a:xfrm>
          <a:prstGeom prst="roundRect">
            <a:avLst>
              <a:gd name="adj" fmla="val 3137"/>
            </a:avLst>
          </a:prstGeom>
          <a:solidFill>
            <a:srgbClr val="242B50"/>
          </a:solidFill>
          <a:ln w="15875">
            <a:solidFill>
              <a:srgbClr val="5A66A6"/>
            </a:solidFill>
            <a:prstDash val="solid"/>
          </a:ln>
        </p:spPr>
      </p:sp>
      <p:sp>
        <p:nvSpPr>
          <p:cNvPr id="16" name="Text 14"/>
          <p:cNvSpPr txBox="1"/>
          <p:nvPr/>
        </p:nvSpPr>
        <p:spPr>
          <a:xfrm>
            <a:off x="8247888" y="1810512"/>
            <a:ext cx="3118104" cy="411480"/>
          </a:xfrm>
          <a:prstGeom prst="rect">
            <a:avLst/>
          </a:prstGeom>
          <a:noFill/>
          <a:ln/>
        </p:spPr>
        <p:txBody>
          <a:bodyPr wrap="square" lIns="0" tIns="0" rIns="0" bIns="0" rtlCol="0" anchor="ctr"/>
          <a:lstStyle/>
          <a:p>
            <a:pPr indent="0" marL="0">
              <a:buNone/>
            </a:pPr>
            <a:r>
              <a:rPr lang="en-US" sz="2000" b="1" dirty="0">
                <a:solidFill>
                  <a:srgbClr val="F4A261"/>
                </a:solidFill>
                <a:latin typeface="Cambria" pitchFamily="34" charset="0"/>
                <a:ea typeface="Cambria" pitchFamily="34" charset="-122"/>
                <a:cs typeface="Cambria" pitchFamily="34" charset="-120"/>
              </a:rPr>
              <a:t>Class</a:t>
            </a:r>
            <a:endParaRPr lang="en-US" sz="2000" dirty="0"/>
          </a:p>
        </p:txBody>
      </p:sp>
      <p:sp>
        <p:nvSpPr>
          <p:cNvPr id="17" name="Text 15"/>
          <p:cNvSpPr txBox="1"/>
          <p:nvPr/>
        </p:nvSpPr>
        <p:spPr>
          <a:xfrm>
            <a:off x="8247888" y="2295144"/>
            <a:ext cx="3118104" cy="1572768"/>
          </a:xfrm>
          <a:prstGeom prst="rect">
            <a:avLst/>
          </a:prstGeom>
          <a:noFill/>
          <a:ln/>
        </p:spPr>
        <p:txBody>
          <a:bodyPr wrap="square" lIns="0" tIns="0" rIns="0" bIns="0" rtlCol="0" anchor="t"/>
          <a:lstStyle/>
          <a:p>
            <a:pPr indent="0" marL="0">
              <a:spcAft>
                <a:spcPts val="400"/>
              </a:spcAft>
              <a:buNone/>
            </a:pPr>
            <a:r>
              <a:rPr lang="en-US" sz="1600" dirty="0">
                <a:solidFill>
                  <a:srgbClr val="EAEEF9"/>
                </a:solidFill>
                <a:latin typeface="Calibri" pitchFamily="34" charset="0"/>
                <a:ea typeface="Calibri" pitchFamily="34" charset="-122"/>
                <a:cs typeface="Calibri" pitchFamily="34" charset="-120"/>
              </a:rPr>
              <a:t>Cannot be extended at all.</a:t>
            </a:r>
            <a:endParaRPr lang="en-US" sz="1600" dirty="0"/>
          </a:p>
        </p:txBody>
      </p:sp>
      <p:sp>
        <p:nvSpPr>
          <p:cNvPr id="18" name="Shape 16"/>
          <p:cNvSpPr/>
          <p:nvPr/>
        </p:nvSpPr>
        <p:spPr>
          <a:xfrm>
            <a:off x="8046720" y="4160520"/>
            <a:ext cx="3520440" cy="519684"/>
          </a:xfrm>
          <a:prstGeom prst="roundRect">
            <a:avLst>
              <a:gd name="adj" fmla="val 10557"/>
            </a:avLst>
          </a:prstGeom>
          <a:solidFill>
            <a:srgbClr val="0E1124"/>
          </a:solidFill>
          <a:ln w="9525">
            <a:solidFill>
              <a:srgbClr val="5A66A6"/>
            </a:solidFill>
            <a:prstDash val="solid"/>
          </a:ln>
        </p:spPr>
      </p:sp>
      <p:sp>
        <p:nvSpPr>
          <p:cNvPr id="19" name="Text 17"/>
          <p:cNvSpPr txBox="1"/>
          <p:nvPr/>
        </p:nvSpPr>
        <p:spPr>
          <a:xfrm>
            <a:off x="8229600" y="4270248"/>
            <a:ext cx="3154680" cy="300228"/>
          </a:xfrm>
          <a:prstGeom prst="rect">
            <a:avLst/>
          </a:prstGeom>
          <a:noFill/>
          <a:ln/>
        </p:spPr>
        <p:txBody>
          <a:bodyPr wrap="square" lIns="0" tIns="0" rIns="0" bIns="0" rtlCol="0" anchor="t"/>
          <a:lstStyle/>
          <a:p>
            <a:pPr indent="0" marL="0">
              <a:lnSpc>
                <a:spcPct val="100000"/>
              </a:lnSpc>
              <a:buNone/>
            </a:pPr>
            <a:r>
              <a:rPr lang="en-US" sz="1200" dirty="0">
                <a:solidFill>
                  <a:srgbClr val="D7E3F4"/>
                </a:solidFill>
                <a:latin typeface="Courier New" pitchFamily="34" charset="0"/>
                <a:ea typeface="Courier New" pitchFamily="34" charset="-122"/>
                <a:cs typeface="Courier New" pitchFamily="34" charset="-120"/>
              </a:rPr>
              <a:t>public final class Executive</a:t>
            </a:r>
            <a:endParaRPr lang="en-US" sz="1200" dirty="0"/>
          </a:p>
        </p:txBody>
      </p:sp>
      <p:sp>
        <p:nvSpPr>
          <p:cNvPr id="20" name="Shape 18"/>
          <p:cNvSpPr/>
          <p:nvPr/>
        </p:nvSpPr>
        <p:spPr>
          <a:xfrm>
            <a:off x="548640" y="4892040"/>
            <a:ext cx="11064240" cy="868680"/>
          </a:xfrm>
          <a:prstGeom prst="roundRect">
            <a:avLst>
              <a:gd name="adj" fmla="val 8421"/>
            </a:avLst>
          </a:prstGeom>
          <a:solidFill>
            <a:srgbClr val="1C2242"/>
          </a:solidFill>
          <a:ln w="15875">
            <a:solidFill>
              <a:srgbClr val="1C2242"/>
            </a:solidFill>
            <a:prstDash val="solid"/>
          </a:ln>
        </p:spPr>
      </p:sp>
      <p:sp>
        <p:nvSpPr>
          <p:cNvPr id="21" name="Text 19"/>
          <p:cNvSpPr txBox="1"/>
          <p:nvPr/>
        </p:nvSpPr>
        <p:spPr>
          <a:xfrm>
            <a:off x="749808" y="5056632"/>
            <a:ext cx="10661904" cy="594360"/>
          </a:xfrm>
          <a:prstGeom prst="rect">
            <a:avLst/>
          </a:prstGeom>
          <a:noFill/>
          <a:ln/>
        </p:spPr>
        <p:txBody>
          <a:bodyPr wrap="square" lIns="0" tIns="0" rIns="0" bIns="0" rtlCol="0" anchor="t"/>
          <a:lstStyle/>
          <a:p>
            <a:pPr indent="0" marL="0">
              <a:spcAft>
                <a:spcPts val="400"/>
              </a:spcAft>
              <a:buNone/>
            </a:pPr>
            <a:r>
              <a:rPr lang="en-US" sz="1500" dirty="0">
                <a:solidFill>
                  <a:srgbClr val="EAEEF9"/>
                </a:solidFill>
                <a:latin typeface="Calibri" pitchFamily="34" charset="0"/>
                <a:ea typeface="Calibri" pitchFamily="34" charset="-122"/>
                <a:cs typeface="Calibri" pitchFamily="34" charset="-120"/>
              </a:rPr>
              <a:t>Why close something? To protect a rule (equals), to protect immutability (String, records), or because the class was not designed to be extended.</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AA4C4"/>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658368"/>
            <a:ext cx="11064240" cy="731520"/>
          </a:xfrm>
          <a:prstGeom prst="rect">
            <a:avLst/>
          </a:prstGeom>
          <a:noFill/>
          <a:ln/>
        </p:spPr>
        <p:txBody>
          <a:bodyPr wrap="square" lIns="0" tIns="0" rIns="0" bIns="0" rtlCol="0" anchor="ctr"/>
          <a:lstStyle/>
          <a:p>
            <a:pPr algn="l" indent="0" marL="0">
              <a:buNone/>
            </a:pPr>
            <a:r>
              <a:rPr lang="en-US" sz="3200" b="1" dirty="0">
                <a:solidFill>
                  <a:srgbClr val="EAEEF9"/>
                </a:solidFill>
                <a:latin typeface="Cambria" pitchFamily="34" charset="0"/>
                <a:ea typeface="Cambria" pitchFamily="34" charset="-122"/>
                <a:cs typeface="Cambria" pitchFamily="34" charset="-120"/>
              </a:rPr>
              <a:t>Every constructor calls up the chain first</a:t>
            </a:r>
            <a:endParaRPr lang="en-US" sz="3200" dirty="0"/>
          </a:p>
        </p:txBody>
      </p:sp>
      <p:sp>
        <p:nvSpPr>
          <p:cNvPr id="3" name="Shape 1"/>
          <p:cNvSpPr/>
          <p:nvPr/>
        </p:nvSpPr>
        <p:spPr>
          <a:xfrm>
            <a:off x="566928" y="393192"/>
            <a:ext cx="118872" cy="118872"/>
          </a:xfrm>
          <a:prstGeom prst="ellipse">
            <a:avLst/>
          </a:prstGeom>
          <a:solidFill>
            <a:srgbClr val="58A6CC"/>
          </a:solidFill>
          <a:ln/>
        </p:spPr>
      </p:sp>
      <p:sp>
        <p:nvSpPr>
          <p:cNvPr id="4" name="Text 2"/>
          <p:cNvSpPr txBox="1"/>
          <p:nvPr/>
        </p:nvSpPr>
        <p:spPr>
          <a:xfrm>
            <a:off x="768096" y="320040"/>
            <a:ext cx="10515600" cy="274320"/>
          </a:xfrm>
          <a:prstGeom prst="rect">
            <a:avLst/>
          </a:prstGeom>
          <a:noFill/>
          <a:ln/>
        </p:spPr>
        <p:txBody>
          <a:bodyPr wrap="square" lIns="0" tIns="0" rIns="0" bIns="0" rtlCol="0" anchor="ctr"/>
          <a:lstStyle/>
          <a:p>
            <a:pPr indent="0" marL="0">
              <a:buNone/>
            </a:pPr>
            <a:r>
              <a:rPr lang="en-US" sz="1200" b="1" spc="250" kern="0" dirty="0">
                <a:solidFill>
                  <a:srgbClr val="58A6CC"/>
                </a:solidFill>
                <a:latin typeface="Calibri" pitchFamily="34" charset="0"/>
                <a:ea typeface="Calibri" pitchFamily="34" charset="-122"/>
                <a:cs typeface="Calibri" pitchFamily="34" charset="-120"/>
              </a:rPr>
              <a:t>CONSTRUCTORS</a:t>
            </a:r>
            <a:endParaRPr lang="en-US" sz="1200" dirty="0"/>
          </a:p>
        </p:txBody>
      </p:sp>
      <p:sp>
        <p:nvSpPr>
          <p:cNvPr id="5" name="Shape 3"/>
          <p:cNvSpPr/>
          <p:nvPr/>
        </p:nvSpPr>
        <p:spPr>
          <a:xfrm>
            <a:off x="822960" y="1645920"/>
            <a:ext cx="3291840" cy="548640"/>
          </a:xfrm>
          <a:prstGeom prst="rect">
            <a:avLst/>
          </a:prstGeom>
          <a:solidFill>
            <a:srgbClr val="242B50"/>
          </a:solidFill>
          <a:ln w="15875">
            <a:solidFill>
              <a:srgbClr val="5A66A6"/>
            </a:solidFill>
            <a:prstDash val="solid"/>
          </a:ln>
        </p:spPr>
      </p:sp>
      <p:sp>
        <p:nvSpPr>
          <p:cNvPr id="6" name="Text 4"/>
          <p:cNvSpPr txBox="1"/>
          <p:nvPr/>
        </p:nvSpPr>
        <p:spPr>
          <a:xfrm>
            <a:off x="822960" y="1645920"/>
            <a:ext cx="3291840" cy="548640"/>
          </a:xfrm>
          <a:prstGeom prst="rect">
            <a:avLst/>
          </a:prstGeom>
          <a:noFill/>
          <a:ln/>
        </p:spPr>
        <p:txBody>
          <a:bodyPr wrap="square" lIns="0" tIns="0" rIns="0" bIns="0" rtlCol="0" anchor="ctr"/>
          <a:lstStyle/>
          <a:p>
            <a:pPr algn="ctr" indent="0" marL="0">
              <a:buNone/>
            </a:pPr>
            <a:r>
              <a:rPr lang="en-US" sz="1500" dirty="0">
                <a:solidFill>
                  <a:srgbClr val="EAEEF9"/>
                </a:solidFill>
                <a:latin typeface="Courier New" pitchFamily="34" charset="0"/>
                <a:ea typeface="Courier New" pitchFamily="34" charset="-122"/>
                <a:cs typeface="Courier New" pitchFamily="34" charset="-120"/>
              </a:rPr>
              <a:t>Executive(...)</a:t>
            </a:r>
            <a:endParaRPr lang="en-US" sz="1500" dirty="0"/>
          </a:p>
        </p:txBody>
      </p:sp>
      <p:sp>
        <p:nvSpPr>
          <p:cNvPr id="7" name="Shape 5"/>
          <p:cNvSpPr/>
          <p:nvPr/>
        </p:nvSpPr>
        <p:spPr>
          <a:xfrm>
            <a:off x="2468880" y="2194560"/>
            <a:ext cx="0" cy="320040"/>
          </a:xfrm>
          <a:prstGeom prst="line">
            <a:avLst/>
          </a:prstGeom>
          <a:noFill/>
          <a:ln w="22225">
            <a:solidFill>
              <a:srgbClr val="58A6CC"/>
            </a:solidFill>
            <a:prstDash val="solid"/>
            <a:tailEnd type="triangle"/>
          </a:ln>
        </p:spPr>
      </p:sp>
      <p:sp>
        <p:nvSpPr>
          <p:cNvPr id="8" name="Shape 6"/>
          <p:cNvSpPr/>
          <p:nvPr/>
        </p:nvSpPr>
        <p:spPr>
          <a:xfrm>
            <a:off x="822960" y="2514600"/>
            <a:ext cx="3291840" cy="548640"/>
          </a:xfrm>
          <a:prstGeom prst="rect">
            <a:avLst/>
          </a:prstGeom>
          <a:solidFill>
            <a:srgbClr val="242B50"/>
          </a:solidFill>
          <a:ln w="15875">
            <a:solidFill>
              <a:srgbClr val="5A66A6"/>
            </a:solidFill>
            <a:prstDash val="solid"/>
          </a:ln>
        </p:spPr>
      </p:sp>
      <p:sp>
        <p:nvSpPr>
          <p:cNvPr id="9" name="Text 7"/>
          <p:cNvSpPr txBox="1"/>
          <p:nvPr/>
        </p:nvSpPr>
        <p:spPr>
          <a:xfrm>
            <a:off x="822960" y="2514600"/>
            <a:ext cx="3291840" cy="548640"/>
          </a:xfrm>
          <a:prstGeom prst="rect">
            <a:avLst/>
          </a:prstGeom>
          <a:noFill/>
          <a:ln/>
        </p:spPr>
        <p:txBody>
          <a:bodyPr wrap="square" lIns="0" tIns="0" rIns="0" bIns="0" rtlCol="0" anchor="ctr"/>
          <a:lstStyle/>
          <a:p>
            <a:pPr algn="ctr" indent="0" marL="0">
              <a:buNone/>
            </a:pPr>
            <a:r>
              <a:rPr lang="en-US" sz="1500" dirty="0">
                <a:solidFill>
                  <a:srgbClr val="EAEEF9"/>
                </a:solidFill>
                <a:latin typeface="Courier New" pitchFamily="34" charset="0"/>
                <a:ea typeface="Courier New" pitchFamily="34" charset="-122"/>
                <a:cs typeface="Courier New" pitchFamily="34" charset="-120"/>
              </a:rPr>
              <a:t>Manager(...)</a:t>
            </a:r>
            <a:endParaRPr lang="en-US" sz="1500" dirty="0"/>
          </a:p>
        </p:txBody>
      </p:sp>
      <p:sp>
        <p:nvSpPr>
          <p:cNvPr id="10" name="Shape 8"/>
          <p:cNvSpPr/>
          <p:nvPr/>
        </p:nvSpPr>
        <p:spPr>
          <a:xfrm>
            <a:off x="2468880" y="3063240"/>
            <a:ext cx="0" cy="320040"/>
          </a:xfrm>
          <a:prstGeom prst="line">
            <a:avLst/>
          </a:prstGeom>
          <a:noFill/>
          <a:ln w="22225">
            <a:solidFill>
              <a:srgbClr val="58A6CC"/>
            </a:solidFill>
            <a:prstDash val="solid"/>
            <a:tailEnd type="triangle"/>
          </a:ln>
        </p:spPr>
      </p:sp>
      <p:sp>
        <p:nvSpPr>
          <p:cNvPr id="11" name="Shape 9"/>
          <p:cNvSpPr/>
          <p:nvPr/>
        </p:nvSpPr>
        <p:spPr>
          <a:xfrm>
            <a:off x="822960" y="3383280"/>
            <a:ext cx="3291840" cy="548640"/>
          </a:xfrm>
          <a:prstGeom prst="rect">
            <a:avLst/>
          </a:prstGeom>
          <a:solidFill>
            <a:srgbClr val="242B50"/>
          </a:solidFill>
          <a:ln w="15875">
            <a:solidFill>
              <a:srgbClr val="5A66A6"/>
            </a:solidFill>
            <a:prstDash val="solid"/>
          </a:ln>
        </p:spPr>
      </p:sp>
      <p:sp>
        <p:nvSpPr>
          <p:cNvPr id="12" name="Text 10"/>
          <p:cNvSpPr txBox="1"/>
          <p:nvPr/>
        </p:nvSpPr>
        <p:spPr>
          <a:xfrm>
            <a:off x="822960" y="3383280"/>
            <a:ext cx="3291840" cy="548640"/>
          </a:xfrm>
          <a:prstGeom prst="rect">
            <a:avLst/>
          </a:prstGeom>
          <a:noFill/>
          <a:ln/>
        </p:spPr>
        <p:txBody>
          <a:bodyPr wrap="square" lIns="0" tIns="0" rIns="0" bIns="0" rtlCol="0" anchor="ctr"/>
          <a:lstStyle/>
          <a:p>
            <a:pPr algn="ctr" indent="0" marL="0">
              <a:buNone/>
            </a:pPr>
            <a:r>
              <a:rPr lang="en-US" sz="1500" dirty="0">
                <a:solidFill>
                  <a:srgbClr val="EAEEF9"/>
                </a:solidFill>
                <a:latin typeface="Courier New" pitchFamily="34" charset="0"/>
                <a:ea typeface="Courier New" pitchFamily="34" charset="-122"/>
                <a:cs typeface="Courier New" pitchFamily="34" charset="-120"/>
              </a:rPr>
              <a:t>SalariedEmployee(...)</a:t>
            </a:r>
            <a:endParaRPr lang="en-US" sz="1500" dirty="0"/>
          </a:p>
        </p:txBody>
      </p:sp>
      <p:sp>
        <p:nvSpPr>
          <p:cNvPr id="13" name="Shape 11"/>
          <p:cNvSpPr/>
          <p:nvPr/>
        </p:nvSpPr>
        <p:spPr>
          <a:xfrm>
            <a:off x="2468880" y="3931920"/>
            <a:ext cx="0" cy="320040"/>
          </a:xfrm>
          <a:prstGeom prst="line">
            <a:avLst/>
          </a:prstGeom>
          <a:noFill/>
          <a:ln w="22225">
            <a:solidFill>
              <a:srgbClr val="58A6CC"/>
            </a:solidFill>
            <a:prstDash val="solid"/>
            <a:tailEnd type="triangle"/>
          </a:ln>
        </p:spPr>
      </p:sp>
      <p:sp>
        <p:nvSpPr>
          <p:cNvPr id="14" name="Shape 12"/>
          <p:cNvSpPr/>
          <p:nvPr/>
        </p:nvSpPr>
        <p:spPr>
          <a:xfrm>
            <a:off x="822960" y="4251960"/>
            <a:ext cx="3291840" cy="548640"/>
          </a:xfrm>
          <a:prstGeom prst="rect">
            <a:avLst/>
          </a:prstGeom>
          <a:solidFill>
            <a:srgbClr val="242B50"/>
          </a:solidFill>
          <a:ln w="15875">
            <a:solidFill>
              <a:srgbClr val="5A66A6"/>
            </a:solidFill>
            <a:prstDash val="solid"/>
          </a:ln>
        </p:spPr>
      </p:sp>
      <p:sp>
        <p:nvSpPr>
          <p:cNvPr id="15" name="Text 13"/>
          <p:cNvSpPr txBox="1"/>
          <p:nvPr/>
        </p:nvSpPr>
        <p:spPr>
          <a:xfrm>
            <a:off x="822960" y="4251960"/>
            <a:ext cx="3291840" cy="548640"/>
          </a:xfrm>
          <a:prstGeom prst="rect">
            <a:avLst/>
          </a:prstGeom>
          <a:noFill/>
          <a:ln/>
        </p:spPr>
        <p:txBody>
          <a:bodyPr wrap="square" lIns="0" tIns="0" rIns="0" bIns="0" rtlCol="0" anchor="ctr"/>
          <a:lstStyle/>
          <a:p>
            <a:pPr algn="ctr" indent="0" marL="0">
              <a:buNone/>
            </a:pPr>
            <a:r>
              <a:rPr lang="en-US" sz="1500" dirty="0">
                <a:solidFill>
                  <a:srgbClr val="EAEEF9"/>
                </a:solidFill>
                <a:latin typeface="Courier New" pitchFamily="34" charset="0"/>
                <a:ea typeface="Courier New" pitchFamily="34" charset="-122"/>
                <a:cs typeface="Courier New" pitchFamily="34" charset="-120"/>
              </a:rPr>
              <a:t>Employee(name)</a:t>
            </a:r>
            <a:endParaRPr lang="en-US" sz="1500" dirty="0"/>
          </a:p>
        </p:txBody>
      </p:sp>
      <p:sp>
        <p:nvSpPr>
          <p:cNvPr id="16" name="Shape 14"/>
          <p:cNvSpPr/>
          <p:nvPr/>
        </p:nvSpPr>
        <p:spPr>
          <a:xfrm>
            <a:off x="2468880" y="4800600"/>
            <a:ext cx="0" cy="320040"/>
          </a:xfrm>
          <a:prstGeom prst="line">
            <a:avLst/>
          </a:prstGeom>
          <a:noFill/>
          <a:ln w="22225">
            <a:solidFill>
              <a:srgbClr val="58A6CC"/>
            </a:solidFill>
            <a:prstDash val="solid"/>
            <a:tailEnd type="triangle"/>
          </a:ln>
        </p:spPr>
      </p:sp>
      <p:sp>
        <p:nvSpPr>
          <p:cNvPr id="17" name="Shape 15"/>
          <p:cNvSpPr/>
          <p:nvPr/>
        </p:nvSpPr>
        <p:spPr>
          <a:xfrm>
            <a:off x="822960" y="5120640"/>
            <a:ext cx="3291840" cy="548640"/>
          </a:xfrm>
          <a:prstGeom prst="rect">
            <a:avLst/>
          </a:prstGeom>
          <a:solidFill>
            <a:srgbClr val="1C2242"/>
          </a:solidFill>
          <a:ln w="15875">
            <a:solidFill>
              <a:srgbClr val="5A66A6"/>
            </a:solidFill>
            <a:prstDash val="solid"/>
          </a:ln>
        </p:spPr>
      </p:sp>
      <p:sp>
        <p:nvSpPr>
          <p:cNvPr id="18" name="Text 16"/>
          <p:cNvSpPr txBox="1"/>
          <p:nvPr/>
        </p:nvSpPr>
        <p:spPr>
          <a:xfrm>
            <a:off x="822960" y="5120640"/>
            <a:ext cx="3291840" cy="548640"/>
          </a:xfrm>
          <a:prstGeom prst="rect">
            <a:avLst/>
          </a:prstGeom>
          <a:noFill/>
          <a:ln/>
        </p:spPr>
        <p:txBody>
          <a:bodyPr wrap="square" lIns="0" tIns="0" rIns="0" bIns="0" rtlCol="0" anchor="ctr"/>
          <a:lstStyle/>
          <a:p>
            <a:pPr algn="ctr" indent="0" marL="0">
              <a:buNone/>
            </a:pPr>
            <a:r>
              <a:rPr lang="en-US" sz="1500" dirty="0">
                <a:solidFill>
                  <a:srgbClr val="EAEEF9"/>
                </a:solidFill>
                <a:latin typeface="Courier New" pitchFamily="34" charset="0"/>
                <a:ea typeface="Courier New" pitchFamily="34" charset="-122"/>
                <a:cs typeface="Courier New" pitchFamily="34" charset="-120"/>
              </a:rPr>
              <a:t>Object()</a:t>
            </a:r>
            <a:endParaRPr lang="en-US" sz="1500" dirty="0"/>
          </a:p>
        </p:txBody>
      </p:sp>
      <p:sp>
        <p:nvSpPr>
          <p:cNvPr id="19" name="Text 17"/>
          <p:cNvSpPr txBox="1"/>
          <p:nvPr/>
        </p:nvSpPr>
        <p:spPr>
          <a:xfrm>
            <a:off x="2606040" y="2212848"/>
            <a:ext cx="2286000" cy="292608"/>
          </a:xfrm>
          <a:prstGeom prst="rect">
            <a:avLst/>
          </a:prstGeom>
          <a:noFill/>
          <a:ln/>
        </p:spPr>
        <p:txBody>
          <a:bodyPr wrap="square" lIns="0" tIns="0" rIns="0" bIns="0" rtlCol="0" anchor="t"/>
          <a:lstStyle/>
          <a:p>
            <a:pPr indent="0" marL="0">
              <a:buNone/>
            </a:pPr>
            <a:r>
              <a:rPr lang="en-US" sz="1300" i="1" dirty="0">
                <a:solidFill>
                  <a:srgbClr val="58A6CC"/>
                </a:solidFill>
                <a:latin typeface="Calibri" pitchFamily="34" charset="0"/>
                <a:ea typeface="Calibri" pitchFamily="34" charset="-122"/>
                <a:cs typeface="Calibri" pitchFamily="34" charset="-120"/>
              </a:rPr>
              <a:t>super(...) goes up</a:t>
            </a:r>
            <a:endParaRPr lang="en-US" sz="1300" dirty="0"/>
          </a:p>
        </p:txBody>
      </p:sp>
      <p:sp>
        <p:nvSpPr>
          <p:cNvPr id="20" name="Shape 18"/>
          <p:cNvSpPr/>
          <p:nvPr/>
        </p:nvSpPr>
        <p:spPr>
          <a:xfrm>
            <a:off x="4754880" y="1682496"/>
            <a:ext cx="438912" cy="438912"/>
          </a:xfrm>
          <a:prstGeom prst="ellipse">
            <a:avLst/>
          </a:prstGeom>
          <a:solidFill>
            <a:srgbClr val="5A66A6"/>
          </a:solidFill>
          <a:ln/>
        </p:spPr>
      </p:sp>
      <p:sp>
        <p:nvSpPr>
          <p:cNvPr id="21" name="Text 19"/>
          <p:cNvSpPr txBox="1"/>
          <p:nvPr/>
        </p:nvSpPr>
        <p:spPr>
          <a:xfrm>
            <a:off x="4754880" y="1682496"/>
            <a:ext cx="438912" cy="438912"/>
          </a:xfrm>
          <a:prstGeom prst="rect">
            <a:avLst/>
          </a:prstGeom>
          <a:noFill/>
          <a:ln/>
        </p:spPr>
        <p:txBody>
          <a:bodyPr wrap="square" lIns="0" tIns="0" rIns="0" bIns="0" rtlCol="0" anchor="ctr"/>
          <a:lstStyle/>
          <a:p>
            <a:pPr algn="ctr" indent="0" marL="0">
              <a:buNone/>
            </a:pPr>
            <a:r>
              <a:rPr lang="en-US" sz="1600" b="1" dirty="0">
                <a:solidFill>
                  <a:srgbClr val="EAEEF9"/>
                </a:solidFill>
                <a:latin typeface="Cambria" pitchFamily="34" charset="0"/>
                <a:ea typeface="Cambria" pitchFamily="34" charset="-122"/>
                <a:cs typeface="Cambria" pitchFamily="34" charset="-120"/>
              </a:rPr>
              <a:t>1</a:t>
            </a:r>
            <a:endParaRPr lang="en-US" sz="1600" dirty="0"/>
          </a:p>
        </p:txBody>
      </p:sp>
      <p:sp>
        <p:nvSpPr>
          <p:cNvPr id="22" name="Text 20"/>
          <p:cNvSpPr txBox="1"/>
          <p:nvPr/>
        </p:nvSpPr>
        <p:spPr>
          <a:xfrm>
            <a:off x="5394960" y="1645920"/>
            <a:ext cx="6217920" cy="822960"/>
          </a:xfrm>
          <a:prstGeom prst="rect">
            <a:avLst/>
          </a:prstGeom>
          <a:noFill/>
          <a:ln/>
        </p:spPr>
        <p:txBody>
          <a:bodyPr wrap="square" lIns="0" tIns="0" rIns="0" bIns="0" rtlCol="0" anchor="ctr"/>
          <a:lstStyle/>
          <a:p>
            <a:pPr indent="0" marL="0">
              <a:buNone/>
            </a:pPr>
            <a:r>
              <a:rPr lang="en-US" sz="1600" dirty="0">
                <a:solidFill>
                  <a:srgbClr val="EAEEF9"/>
                </a:solidFill>
                <a:latin typeface="Calibri" pitchFamily="34" charset="0"/>
                <a:ea typeface="Calibri" pitchFamily="34" charset="-122"/>
                <a:cs typeface="Calibri" pitchFamily="34" charset="-120"/>
              </a:rPr>
              <a:t>The first statement is super(...) or this(...), never both.</a:t>
            </a:r>
            <a:endParaRPr lang="en-US" sz="1600" dirty="0"/>
          </a:p>
        </p:txBody>
      </p:sp>
      <p:sp>
        <p:nvSpPr>
          <p:cNvPr id="23" name="Shape 21"/>
          <p:cNvSpPr/>
          <p:nvPr/>
        </p:nvSpPr>
        <p:spPr>
          <a:xfrm>
            <a:off x="4754880" y="2578608"/>
            <a:ext cx="438912" cy="438912"/>
          </a:xfrm>
          <a:prstGeom prst="ellipse">
            <a:avLst/>
          </a:prstGeom>
          <a:solidFill>
            <a:srgbClr val="5A66A6"/>
          </a:solidFill>
          <a:ln/>
        </p:spPr>
      </p:sp>
      <p:sp>
        <p:nvSpPr>
          <p:cNvPr id="24" name="Text 22"/>
          <p:cNvSpPr txBox="1"/>
          <p:nvPr/>
        </p:nvSpPr>
        <p:spPr>
          <a:xfrm>
            <a:off x="4754880" y="2578608"/>
            <a:ext cx="438912" cy="438912"/>
          </a:xfrm>
          <a:prstGeom prst="rect">
            <a:avLst/>
          </a:prstGeom>
          <a:noFill/>
          <a:ln/>
        </p:spPr>
        <p:txBody>
          <a:bodyPr wrap="square" lIns="0" tIns="0" rIns="0" bIns="0" rtlCol="0" anchor="ctr"/>
          <a:lstStyle/>
          <a:p>
            <a:pPr algn="ctr" indent="0" marL="0">
              <a:buNone/>
            </a:pPr>
            <a:r>
              <a:rPr lang="en-US" sz="1600" b="1" dirty="0">
                <a:solidFill>
                  <a:srgbClr val="EAEEF9"/>
                </a:solidFill>
                <a:latin typeface="Cambria" pitchFamily="34" charset="0"/>
                <a:ea typeface="Cambria" pitchFamily="34" charset="-122"/>
                <a:cs typeface="Cambria" pitchFamily="34" charset="-120"/>
              </a:rPr>
              <a:t>2</a:t>
            </a:r>
            <a:endParaRPr lang="en-US" sz="1600" dirty="0"/>
          </a:p>
        </p:txBody>
      </p:sp>
      <p:sp>
        <p:nvSpPr>
          <p:cNvPr id="25" name="Text 23"/>
          <p:cNvSpPr txBox="1"/>
          <p:nvPr/>
        </p:nvSpPr>
        <p:spPr>
          <a:xfrm>
            <a:off x="5394960" y="2542032"/>
            <a:ext cx="6217920" cy="822960"/>
          </a:xfrm>
          <a:prstGeom prst="rect">
            <a:avLst/>
          </a:prstGeom>
          <a:noFill/>
          <a:ln/>
        </p:spPr>
        <p:txBody>
          <a:bodyPr wrap="square" lIns="0" tIns="0" rIns="0" bIns="0" rtlCol="0" anchor="ctr"/>
          <a:lstStyle/>
          <a:p>
            <a:pPr indent="0" marL="0">
              <a:buNone/>
            </a:pPr>
            <a:r>
              <a:rPr lang="en-US" sz="1600" dirty="0">
                <a:solidFill>
                  <a:srgbClr val="EAEEF9"/>
                </a:solidFill>
                <a:latin typeface="Calibri" pitchFamily="34" charset="0"/>
                <a:ea typeface="Calibri" pitchFamily="34" charset="-122"/>
                <a:cs typeface="Calibri" pitchFamily="34" charset="-120"/>
              </a:rPr>
              <a:t>Write neither, and Java inserts super(). That fails if the superclass has no no-argument constructor.</a:t>
            </a:r>
            <a:endParaRPr lang="en-US" sz="1600" dirty="0"/>
          </a:p>
        </p:txBody>
      </p:sp>
      <p:sp>
        <p:nvSpPr>
          <p:cNvPr id="26" name="Shape 24"/>
          <p:cNvSpPr/>
          <p:nvPr/>
        </p:nvSpPr>
        <p:spPr>
          <a:xfrm>
            <a:off x="4754880" y="3474720"/>
            <a:ext cx="438912" cy="438912"/>
          </a:xfrm>
          <a:prstGeom prst="ellipse">
            <a:avLst/>
          </a:prstGeom>
          <a:solidFill>
            <a:srgbClr val="5A66A6"/>
          </a:solidFill>
          <a:ln/>
        </p:spPr>
      </p:sp>
      <p:sp>
        <p:nvSpPr>
          <p:cNvPr id="27" name="Text 25"/>
          <p:cNvSpPr txBox="1"/>
          <p:nvPr/>
        </p:nvSpPr>
        <p:spPr>
          <a:xfrm>
            <a:off x="4754880" y="3474720"/>
            <a:ext cx="438912" cy="438912"/>
          </a:xfrm>
          <a:prstGeom prst="rect">
            <a:avLst/>
          </a:prstGeom>
          <a:noFill/>
          <a:ln/>
        </p:spPr>
        <p:txBody>
          <a:bodyPr wrap="square" lIns="0" tIns="0" rIns="0" bIns="0" rtlCol="0" anchor="ctr"/>
          <a:lstStyle/>
          <a:p>
            <a:pPr algn="ctr" indent="0" marL="0">
              <a:buNone/>
            </a:pPr>
            <a:r>
              <a:rPr lang="en-US" sz="1600" b="1" dirty="0">
                <a:solidFill>
                  <a:srgbClr val="EAEEF9"/>
                </a:solidFill>
                <a:latin typeface="Cambria" pitchFamily="34" charset="0"/>
                <a:ea typeface="Cambria" pitchFamily="34" charset="-122"/>
                <a:cs typeface="Cambria" pitchFamily="34" charset="-120"/>
              </a:rPr>
              <a:t>3</a:t>
            </a:r>
            <a:endParaRPr lang="en-US" sz="1600" dirty="0"/>
          </a:p>
        </p:txBody>
      </p:sp>
      <p:sp>
        <p:nvSpPr>
          <p:cNvPr id="28" name="Text 26"/>
          <p:cNvSpPr txBox="1"/>
          <p:nvPr/>
        </p:nvSpPr>
        <p:spPr>
          <a:xfrm>
            <a:off x="5394960" y="3438144"/>
            <a:ext cx="6217920" cy="822960"/>
          </a:xfrm>
          <a:prstGeom prst="rect">
            <a:avLst/>
          </a:prstGeom>
          <a:noFill/>
          <a:ln/>
        </p:spPr>
        <p:txBody>
          <a:bodyPr wrap="square" lIns="0" tIns="0" rIns="0" bIns="0" rtlCol="0" anchor="ctr"/>
          <a:lstStyle/>
          <a:p>
            <a:pPr indent="0" marL="0">
              <a:buNone/>
            </a:pPr>
            <a:r>
              <a:rPr lang="en-US" sz="1600" dirty="0">
                <a:solidFill>
                  <a:srgbClr val="EAEEF9"/>
                </a:solidFill>
                <a:latin typeface="Calibri" pitchFamily="34" charset="0"/>
                <a:ea typeface="Calibri" pitchFamily="34" charset="-122"/>
                <a:cs typeface="Calibri" pitchFamily="34" charset="-120"/>
              </a:rPr>
              <a:t>Write no constructor, and Java supplies a default one. Write any constructor, and the default disappears.</a:t>
            </a:r>
            <a:endParaRPr lang="en-US" sz="1600" dirty="0"/>
          </a:p>
        </p:txBody>
      </p:sp>
      <p:sp>
        <p:nvSpPr>
          <p:cNvPr id="29" name="Shape 27"/>
          <p:cNvSpPr/>
          <p:nvPr/>
        </p:nvSpPr>
        <p:spPr>
          <a:xfrm>
            <a:off x="4754880" y="4370832"/>
            <a:ext cx="438912" cy="438912"/>
          </a:xfrm>
          <a:prstGeom prst="ellipse">
            <a:avLst/>
          </a:prstGeom>
          <a:solidFill>
            <a:srgbClr val="5A66A6"/>
          </a:solidFill>
          <a:ln/>
        </p:spPr>
      </p:sp>
      <p:sp>
        <p:nvSpPr>
          <p:cNvPr id="30" name="Text 28"/>
          <p:cNvSpPr txBox="1"/>
          <p:nvPr/>
        </p:nvSpPr>
        <p:spPr>
          <a:xfrm>
            <a:off x="4754880" y="4370832"/>
            <a:ext cx="438912" cy="438912"/>
          </a:xfrm>
          <a:prstGeom prst="rect">
            <a:avLst/>
          </a:prstGeom>
          <a:noFill/>
          <a:ln/>
        </p:spPr>
        <p:txBody>
          <a:bodyPr wrap="square" lIns="0" tIns="0" rIns="0" bIns="0" rtlCol="0" anchor="ctr"/>
          <a:lstStyle/>
          <a:p>
            <a:pPr algn="ctr" indent="0" marL="0">
              <a:buNone/>
            </a:pPr>
            <a:r>
              <a:rPr lang="en-US" sz="1600" b="1" dirty="0">
                <a:solidFill>
                  <a:srgbClr val="EAEEF9"/>
                </a:solidFill>
                <a:latin typeface="Cambria" pitchFamily="34" charset="0"/>
                <a:ea typeface="Cambria" pitchFamily="34" charset="-122"/>
                <a:cs typeface="Cambria" pitchFamily="34" charset="-120"/>
              </a:rPr>
              <a:t>4</a:t>
            </a:r>
            <a:endParaRPr lang="en-US" sz="1600" dirty="0"/>
          </a:p>
        </p:txBody>
      </p:sp>
      <p:sp>
        <p:nvSpPr>
          <p:cNvPr id="31" name="Text 29"/>
          <p:cNvSpPr txBox="1"/>
          <p:nvPr/>
        </p:nvSpPr>
        <p:spPr>
          <a:xfrm>
            <a:off x="5394960" y="4334256"/>
            <a:ext cx="6217920" cy="822960"/>
          </a:xfrm>
          <a:prstGeom prst="rect">
            <a:avLst/>
          </a:prstGeom>
          <a:noFill/>
          <a:ln/>
        </p:spPr>
        <p:txBody>
          <a:bodyPr wrap="square" lIns="0" tIns="0" rIns="0" bIns="0" rtlCol="0" anchor="ctr"/>
          <a:lstStyle/>
          <a:p>
            <a:pPr indent="0" marL="0">
              <a:buNone/>
            </a:pPr>
            <a:r>
              <a:rPr lang="en-US" sz="1600" dirty="0">
                <a:solidFill>
                  <a:srgbClr val="EAEEF9"/>
                </a:solidFill>
                <a:latin typeface="Calibri" pitchFamily="34" charset="0"/>
                <a:ea typeface="Calibri" pitchFamily="34" charset="-122"/>
                <a:cs typeface="Calibri" pitchFamily="34" charset="-120"/>
              </a:rPr>
              <a:t>Each class initializes only its own fields. Constructors are not inherited and not polymorphic.</a:t>
            </a:r>
            <a:endParaRPr lang="en-US" sz="1600" dirty="0"/>
          </a:p>
        </p:txBody>
      </p:sp>
      <p:sp>
        <p:nvSpPr>
          <p:cNvPr id="32" name="Text 30"/>
          <p:cNvSpPr txBox="1"/>
          <p:nvPr/>
        </p:nvSpPr>
        <p:spPr>
          <a:xfrm>
            <a:off x="548640" y="5897880"/>
            <a:ext cx="10424160" cy="411480"/>
          </a:xfrm>
          <a:prstGeom prst="rect">
            <a:avLst/>
          </a:prstGeom>
          <a:noFill/>
          <a:ln/>
        </p:spPr>
        <p:txBody>
          <a:bodyPr wrap="square" lIns="0" tIns="0" rIns="0" bIns="0" rtlCol="0" anchor="t"/>
          <a:lstStyle/>
          <a:p>
            <a:pPr indent="0" marL="0">
              <a:buNone/>
            </a:pPr>
            <a:r>
              <a:rPr lang="en-US" sz="1500" i="1" dirty="0">
                <a:solidFill>
                  <a:srgbClr val="9AA4C4"/>
                </a:solidFill>
                <a:latin typeface="Calibri" pitchFamily="34" charset="0"/>
                <a:ea typeface="Calibri" pitchFamily="34" charset="-122"/>
                <a:cs typeface="Calibri" pitchFamily="34" charset="-120"/>
              </a:rPr>
              <a:t>Java 25 allows some statements before super(...), as long as they do not use the object being built.</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AA4C4"/>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658368"/>
            <a:ext cx="11064240" cy="731520"/>
          </a:xfrm>
          <a:prstGeom prst="rect">
            <a:avLst/>
          </a:prstGeom>
          <a:noFill/>
          <a:ln/>
        </p:spPr>
        <p:txBody>
          <a:bodyPr wrap="square" lIns="0" tIns="0" rIns="0" bIns="0" rtlCol="0" anchor="ctr"/>
          <a:lstStyle/>
          <a:p>
            <a:pPr algn="l" indent="0" marL="0">
              <a:buNone/>
            </a:pPr>
            <a:r>
              <a:rPr lang="en-US" sz="3200" b="1" dirty="0">
                <a:solidFill>
                  <a:srgbClr val="EAEEF9"/>
                </a:solidFill>
                <a:latin typeface="Cambria" pitchFamily="34" charset="0"/>
                <a:ea typeface="Cambria" pitchFamily="34" charset="-122"/>
                <a:cs typeface="Cambria" pitchFamily="34" charset="-120"/>
              </a:rPr>
              <a:t>Objects are built top-down, one level at a time</a:t>
            </a:r>
            <a:endParaRPr lang="en-US" sz="3200" dirty="0"/>
          </a:p>
        </p:txBody>
      </p:sp>
      <p:sp>
        <p:nvSpPr>
          <p:cNvPr id="3" name="Shape 1"/>
          <p:cNvSpPr/>
          <p:nvPr/>
        </p:nvSpPr>
        <p:spPr>
          <a:xfrm>
            <a:off x="566928" y="393192"/>
            <a:ext cx="118872" cy="118872"/>
          </a:xfrm>
          <a:prstGeom prst="ellipse">
            <a:avLst/>
          </a:prstGeom>
          <a:solidFill>
            <a:srgbClr val="58A6CC"/>
          </a:solidFill>
          <a:ln/>
        </p:spPr>
      </p:sp>
      <p:sp>
        <p:nvSpPr>
          <p:cNvPr id="4" name="Text 2"/>
          <p:cNvSpPr txBox="1"/>
          <p:nvPr/>
        </p:nvSpPr>
        <p:spPr>
          <a:xfrm>
            <a:off x="768096" y="320040"/>
            <a:ext cx="10515600" cy="274320"/>
          </a:xfrm>
          <a:prstGeom prst="rect">
            <a:avLst/>
          </a:prstGeom>
          <a:noFill/>
          <a:ln/>
        </p:spPr>
        <p:txBody>
          <a:bodyPr wrap="square" lIns="0" tIns="0" rIns="0" bIns="0" rtlCol="0" anchor="ctr"/>
          <a:lstStyle/>
          <a:p>
            <a:pPr indent="0" marL="0">
              <a:buNone/>
            </a:pPr>
            <a:r>
              <a:rPr lang="en-US" sz="1200" b="1" spc="250" kern="0" dirty="0">
                <a:solidFill>
                  <a:srgbClr val="58A6CC"/>
                </a:solidFill>
                <a:latin typeface="Calibri" pitchFamily="34" charset="0"/>
                <a:ea typeface="Calibri" pitchFamily="34" charset="-122"/>
                <a:cs typeface="Calibri" pitchFamily="34" charset="-120"/>
              </a:rPr>
              <a:t>ORDER OF CREATION</a:t>
            </a:r>
            <a:endParaRPr lang="en-US" sz="1200" dirty="0"/>
          </a:p>
        </p:txBody>
      </p:sp>
      <p:sp>
        <p:nvSpPr>
          <p:cNvPr id="5" name="Shape 3"/>
          <p:cNvSpPr/>
          <p:nvPr/>
        </p:nvSpPr>
        <p:spPr>
          <a:xfrm>
            <a:off x="548640" y="1645920"/>
            <a:ext cx="6400800" cy="1980184"/>
          </a:xfrm>
          <a:prstGeom prst="roundRect">
            <a:avLst>
              <a:gd name="adj" fmla="val 2771"/>
            </a:avLst>
          </a:prstGeom>
          <a:solidFill>
            <a:srgbClr val="0E1124"/>
          </a:solidFill>
          <a:ln w="9525">
            <a:solidFill>
              <a:srgbClr val="5A66A6"/>
            </a:solidFill>
            <a:prstDash val="solid"/>
          </a:ln>
        </p:spPr>
      </p:sp>
      <p:sp>
        <p:nvSpPr>
          <p:cNvPr id="6" name="Text 4"/>
          <p:cNvSpPr txBox="1"/>
          <p:nvPr/>
        </p:nvSpPr>
        <p:spPr>
          <a:xfrm>
            <a:off x="731520" y="1755648"/>
            <a:ext cx="6035040" cy="1760728"/>
          </a:xfrm>
          <a:prstGeom prst="rect">
            <a:avLst/>
          </a:prstGeom>
          <a:noFill/>
          <a:ln/>
        </p:spPr>
        <p:txBody>
          <a:bodyPr wrap="square" lIns="0" tIns="0" rIns="0" bIns="0" rtlCol="0" anchor="t"/>
          <a:lstStyle/>
          <a:p>
            <a:pPr indent="0" marL="0">
              <a:lnSpc>
                <a:spcPct val="100000"/>
              </a:lnSpc>
              <a:buNone/>
            </a:pPr>
            <a:r>
              <a:rPr lang="en-US" sz="1300" dirty="0">
                <a:solidFill>
                  <a:srgbClr val="D7E3F4"/>
                </a:solidFill>
                <a:latin typeface="Courier New" pitchFamily="34" charset="0"/>
                <a:ea typeface="Courier New" pitchFamily="34" charset="-122"/>
                <a:cs typeface="Courier New" pitchFamily="34" charset="-120"/>
              </a:rPr>
              <a:t>main starts</a:t>
            </a:r>
            <a:endParaRPr lang="en-US" sz="1300" dirty="0"/>
          </a:p>
          <a:p>
            <a:pPr indent="0" marL="0">
              <a:lnSpc>
                <a:spcPct val="100000"/>
              </a:lnSpc>
              <a:buNone/>
            </a:pPr>
            <a:r>
              <a:rPr lang="en-US" sz="1300" b="1" dirty="0">
                <a:solidFill>
                  <a:srgbClr val="58A6CC"/>
                </a:solidFill>
                <a:latin typeface="Courier New" pitchFamily="34" charset="0"/>
                <a:ea typeface="Courier New" pitchFamily="34" charset="-122"/>
                <a:cs typeface="Courier New" pitchFamily="34" charset="-120"/>
              </a:rPr>
              <a:t>Base static block</a:t>
            </a:r>
            <a:endParaRPr lang="en-US" sz="1300" dirty="0"/>
          </a:p>
          <a:p>
            <a:pPr indent="0" marL="0">
              <a:lnSpc>
                <a:spcPct val="100000"/>
              </a:lnSpc>
              <a:buNone/>
            </a:pPr>
            <a:r>
              <a:rPr lang="en-US" sz="1300" b="1" dirty="0">
                <a:solidFill>
                  <a:srgbClr val="58A6CC"/>
                </a:solidFill>
                <a:latin typeface="Courier New" pitchFamily="34" charset="0"/>
                <a:ea typeface="Courier New" pitchFamily="34" charset="-122"/>
                <a:cs typeface="Courier New" pitchFamily="34" charset="-120"/>
              </a:rPr>
              <a:t>Derived static block</a:t>
            </a:r>
            <a:endParaRPr lang="en-US" sz="1300" dirty="0"/>
          </a:p>
          <a:p>
            <a:pPr indent="0" marL="0">
              <a:lnSpc>
                <a:spcPct val="100000"/>
              </a:lnSpc>
              <a:buNone/>
            </a:pPr>
            <a:r>
              <a:rPr lang="en-US" sz="1300" b="1" dirty="0">
                <a:solidFill>
                  <a:srgbClr val="F4A261"/>
                </a:solidFill>
                <a:latin typeface="Courier New" pitchFamily="34" charset="0"/>
                <a:ea typeface="Courier New" pitchFamily="34" charset="-122"/>
                <a:cs typeface="Courier New" pitchFamily="34" charset="-120"/>
              </a:rPr>
              <a:t>Base field initializer</a:t>
            </a:r>
            <a:endParaRPr lang="en-US" sz="1300" dirty="0"/>
          </a:p>
          <a:p>
            <a:pPr indent="0" marL="0">
              <a:lnSpc>
                <a:spcPct val="100000"/>
              </a:lnSpc>
              <a:buNone/>
            </a:pPr>
            <a:r>
              <a:rPr lang="en-US" sz="1300" b="1" dirty="0">
                <a:solidFill>
                  <a:srgbClr val="F4A261"/>
                </a:solidFill>
                <a:latin typeface="Courier New" pitchFamily="34" charset="0"/>
                <a:ea typeface="Courier New" pitchFamily="34" charset="-122"/>
                <a:cs typeface="Courier New" pitchFamily="34" charset="-120"/>
              </a:rPr>
              <a:t>Base constructor body</a:t>
            </a:r>
            <a:endParaRPr lang="en-US" sz="1300" dirty="0"/>
          </a:p>
          <a:p>
            <a:pPr indent="0" marL="0">
              <a:lnSpc>
                <a:spcPct val="100000"/>
              </a:lnSpc>
              <a:buNone/>
            </a:pPr>
            <a:r>
              <a:rPr lang="en-US" sz="1300" b="1" dirty="0">
                <a:solidFill>
                  <a:srgbClr val="EC6C75"/>
                </a:solidFill>
                <a:latin typeface="Courier New" pitchFamily="34" charset="0"/>
                <a:ea typeface="Courier New" pitchFamily="34" charset="-122"/>
                <a:cs typeface="Courier New" pitchFamily="34" charset="-120"/>
              </a:rPr>
              <a:t>Derived.describe(), label = null</a:t>
            </a:r>
            <a:endParaRPr lang="en-US" sz="1300" dirty="0"/>
          </a:p>
          <a:p>
            <a:pPr indent="0" marL="0">
              <a:lnSpc>
                <a:spcPct val="100000"/>
              </a:lnSpc>
              <a:buNone/>
            </a:pPr>
            <a:r>
              <a:rPr lang="en-US" sz="1300" dirty="0">
                <a:solidFill>
                  <a:srgbClr val="D7E3F4"/>
                </a:solidFill>
                <a:latin typeface="Courier New" pitchFamily="34" charset="0"/>
                <a:ea typeface="Courier New" pitchFamily="34" charset="-122"/>
                <a:cs typeface="Courier New" pitchFamily="34" charset="-120"/>
              </a:rPr>
              <a:t>Derived field initializer</a:t>
            </a:r>
            <a:endParaRPr lang="en-US" sz="1300" dirty="0"/>
          </a:p>
          <a:p>
            <a:pPr indent="0" marL="0">
              <a:lnSpc>
                <a:spcPct val="100000"/>
              </a:lnSpc>
              <a:buNone/>
            </a:pPr>
            <a:r>
              <a:rPr lang="en-US" sz="1300" dirty="0">
                <a:solidFill>
                  <a:srgbClr val="D7E3F4"/>
                </a:solidFill>
                <a:latin typeface="Courier New" pitchFamily="34" charset="0"/>
                <a:ea typeface="Courier New" pitchFamily="34" charset="-122"/>
                <a:cs typeface="Courier New" pitchFamily="34" charset="-120"/>
              </a:rPr>
              <a:t>Derived constructor body, label = Derived field initializer</a:t>
            </a:r>
            <a:endParaRPr lang="en-US" sz="1300" dirty="0"/>
          </a:p>
        </p:txBody>
      </p:sp>
      <p:sp>
        <p:nvSpPr>
          <p:cNvPr id="7" name="Shape 5"/>
          <p:cNvSpPr/>
          <p:nvPr/>
        </p:nvSpPr>
        <p:spPr>
          <a:xfrm>
            <a:off x="7223760" y="1682496"/>
            <a:ext cx="438912" cy="438912"/>
          </a:xfrm>
          <a:prstGeom prst="ellipse">
            <a:avLst/>
          </a:prstGeom>
          <a:solidFill>
            <a:srgbClr val="5A66A6"/>
          </a:solidFill>
          <a:ln/>
        </p:spPr>
      </p:sp>
      <p:sp>
        <p:nvSpPr>
          <p:cNvPr id="8" name="Text 6"/>
          <p:cNvSpPr txBox="1"/>
          <p:nvPr/>
        </p:nvSpPr>
        <p:spPr>
          <a:xfrm>
            <a:off x="7223760" y="1682496"/>
            <a:ext cx="438912" cy="438912"/>
          </a:xfrm>
          <a:prstGeom prst="rect">
            <a:avLst/>
          </a:prstGeom>
          <a:noFill/>
          <a:ln/>
        </p:spPr>
        <p:txBody>
          <a:bodyPr wrap="square" lIns="0" tIns="0" rIns="0" bIns="0" rtlCol="0" anchor="ctr"/>
          <a:lstStyle/>
          <a:p>
            <a:pPr algn="ctr" indent="0" marL="0">
              <a:buNone/>
            </a:pPr>
            <a:r>
              <a:rPr lang="en-US" sz="1600" b="1" dirty="0">
                <a:solidFill>
                  <a:srgbClr val="EAEEF9"/>
                </a:solidFill>
                <a:latin typeface="Cambria" pitchFamily="34" charset="0"/>
                <a:ea typeface="Cambria" pitchFamily="34" charset="-122"/>
                <a:cs typeface="Cambria" pitchFamily="34" charset="-120"/>
              </a:rPr>
              <a:t>1</a:t>
            </a:r>
            <a:endParaRPr lang="en-US" sz="1600" dirty="0"/>
          </a:p>
        </p:txBody>
      </p:sp>
      <p:sp>
        <p:nvSpPr>
          <p:cNvPr id="9" name="Text 7"/>
          <p:cNvSpPr txBox="1"/>
          <p:nvPr/>
        </p:nvSpPr>
        <p:spPr>
          <a:xfrm>
            <a:off x="7863840" y="1645920"/>
            <a:ext cx="3749040" cy="658368"/>
          </a:xfrm>
          <a:prstGeom prst="rect">
            <a:avLst/>
          </a:prstGeom>
          <a:noFill/>
          <a:ln/>
        </p:spPr>
        <p:txBody>
          <a:bodyPr wrap="square" lIns="0" tIns="0" rIns="0" bIns="0" rtlCol="0" anchor="ctr"/>
          <a:lstStyle/>
          <a:p>
            <a:pPr indent="0" marL="0">
              <a:buNone/>
            </a:pPr>
            <a:r>
              <a:rPr lang="en-US" sz="1500" dirty="0">
                <a:solidFill>
                  <a:srgbClr val="EAEEF9"/>
                </a:solidFill>
                <a:latin typeface="Calibri" pitchFamily="34" charset="0"/>
                <a:ea typeface="Calibri" pitchFamily="34" charset="-122"/>
                <a:cs typeface="Calibri" pitchFamily="34" charset="-120"/>
              </a:rPr>
              <a:t>Static blocks: once per class, superclass first.</a:t>
            </a:r>
            <a:endParaRPr lang="en-US" sz="1500" dirty="0"/>
          </a:p>
        </p:txBody>
      </p:sp>
      <p:sp>
        <p:nvSpPr>
          <p:cNvPr id="10" name="Shape 8"/>
          <p:cNvSpPr/>
          <p:nvPr/>
        </p:nvSpPr>
        <p:spPr>
          <a:xfrm>
            <a:off x="7223760" y="2414016"/>
            <a:ext cx="438912" cy="438912"/>
          </a:xfrm>
          <a:prstGeom prst="ellipse">
            <a:avLst/>
          </a:prstGeom>
          <a:solidFill>
            <a:srgbClr val="5A66A6"/>
          </a:solidFill>
          <a:ln/>
        </p:spPr>
      </p:sp>
      <p:sp>
        <p:nvSpPr>
          <p:cNvPr id="11" name="Text 9"/>
          <p:cNvSpPr txBox="1"/>
          <p:nvPr/>
        </p:nvSpPr>
        <p:spPr>
          <a:xfrm>
            <a:off x="7223760" y="2414016"/>
            <a:ext cx="438912" cy="438912"/>
          </a:xfrm>
          <a:prstGeom prst="rect">
            <a:avLst/>
          </a:prstGeom>
          <a:noFill/>
          <a:ln/>
        </p:spPr>
        <p:txBody>
          <a:bodyPr wrap="square" lIns="0" tIns="0" rIns="0" bIns="0" rtlCol="0" anchor="ctr"/>
          <a:lstStyle/>
          <a:p>
            <a:pPr algn="ctr" indent="0" marL="0">
              <a:buNone/>
            </a:pPr>
            <a:r>
              <a:rPr lang="en-US" sz="1600" b="1" dirty="0">
                <a:solidFill>
                  <a:srgbClr val="EAEEF9"/>
                </a:solidFill>
                <a:latin typeface="Cambria" pitchFamily="34" charset="0"/>
                <a:ea typeface="Cambria" pitchFamily="34" charset="-122"/>
                <a:cs typeface="Cambria" pitchFamily="34" charset="-120"/>
              </a:rPr>
              <a:t>2</a:t>
            </a:r>
            <a:endParaRPr lang="en-US" sz="1600" dirty="0"/>
          </a:p>
        </p:txBody>
      </p:sp>
      <p:sp>
        <p:nvSpPr>
          <p:cNvPr id="12" name="Text 10"/>
          <p:cNvSpPr txBox="1"/>
          <p:nvPr/>
        </p:nvSpPr>
        <p:spPr>
          <a:xfrm>
            <a:off x="7863840" y="2377440"/>
            <a:ext cx="3749040" cy="658368"/>
          </a:xfrm>
          <a:prstGeom prst="rect">
            <a:avLst/>
          </a:prstGeom>
          <a:noFill/>
          <a:ln/>
        </p:spPr>
        <p:txBody>
          <a:bodyPr wrap="square" lIns="0" tIns="0" rIns="0" bIns="0" rtlCol="0" anchor="ctr"/>
          <a:lstStyle/>
          <a:p>
            <a:pPr indent="0" marL="0">
              <a:buNone/>
            </a:pPr>
            <a:r>
              <a:rPr lang="en-US" sz="1500" dirty="0">
                <a:solidFill>
                  <a:srgbClr val="EAEEF9"/>
                </a:solidFill>
                <a:latin typeface="Calibri" pitchFamily="34" charset="0"/>
                <a:ea typeface="Calibri" pitchFamily="34" charset="-122"/>
                <a:cs typeface="Calibri" pitchFamily="34" charset="-120"/>
              </a:rPr>
              <a:t>Memory for every field, set to 0, false, or null.</a:t>
            </a:r>
            <a:endParaRPr lang="en-US" sz="1500" dirty="0"/>
          </a:p>
        </p:txBody>
      </p:sp>
      <p:sp>
        <p:nvSpPr>
          <p:cNvPr id="13" name="Shape 11"/>
          <p:cNvSpPr/>
          <p:nvPr/>
        </p:nvSpPr>
        <p:spPr>
          <a:xfrm>
            <a:off x="7223760" y="3145536"/>
            <a:ext cx="438912" cy="438912"/>
          </a:xfrm>
          <a:prstGeom prst="ellipse">
            <a:avLst/>
          </a:prstGeom>
          <a:solidFill>
            <a:srgbClr val="5A66A6"/>
          </a:solidFill>
          <a:ln/>
        </p:spPr>
      </p:sp>
      <p:sp>
        <p:nvSpPr>
          <p:cNvPr id="14" name="Text 12"/>
          <p:cNvSpPr txBox="1"/>
          <p:nvPr/>
        </p:nvSpPr>
        <p:spPr>
          <a:xfrm>
            <a:off x="7223760" y="3145536"/>
            <a:ext cx="438912" cy="438912"/>
          </a:xfrm>
          <a:prstGeom prst="rect">
            <a:avLst/>
          </a:prstGeom>
          <a:noFill/>
          <a:ln/>
        </p:spPr>
        <p:txBody>
          <a:bodyPr wrap="square" lIns="0" tIns="0" rIns="0" bIns="0" rtlCol="0" anchor="ctr"/>
          <a:lstStyle/>
          <a:p>
            <a:pPr algn="ctr" indent="0" marL="0">
              <a:buNone/>
            </a:pPr>
            <a:r>
              <a:rPr lang="en-US" sz="1600" b="1" dirty="0">
                <a:solidFill>
                  <a:srgbClr val="EAEEF9"/>
                </a:solidFill>
                <a:latin typeface="Cambria" pitchFamily="34" charset="0"/>
                <a:ea typeface="Cambria" pitchFamily="34" charset="-122"/>
                <a:cs typeface="Cambria" pitchFamily="34" charset="-120"/>
              </a:rPr>
              <a:t>3</a:t>
            </a:r>
            <a:endParaRPr lang="en-US" sz="1600" dirty="0"/>
          </a:p>
        </p:txBody>
      </p:sp>
      <p:sp>
        <p:nvSpPr>
          <p:cNvPr id="15" name="Text 13"/>
          <p:cNvSpPr txBox="1"/>
          <p:nvPr/>
        </p:nvSpPr>
        <p:spPr>
          <a:xfrm>
            <a:off x="7863840" y="3108960"/>
            <a:ext cx="3749040" cy="658368"/>
          </a:xfrm>
          <a:prstGeom prst="rect">
            <a:avLst/>
          </a:prstGeom>
          <a:noFill/>
          <a:ln/>
        </p:spPr>
        <p:txBody>
          <a:bodyPr wrap="square" lIns="0" tIns="0" rIns="0" bIns="0" rtlCol="0" anchor="ctr"/>
          <a:lstStyle/>
          <a:p>
            <a:pPr indent="0" marL="0">
              <a:buNone/>
            </a:pPr>
            <a:r>
              <a:rPr lang="en-US" sz="1500" dirty="0">
                <a:solidFill>
                  <a:srgbClr val="EAEEF9"/>
                </a:solidFill>
                <a:latin typeface="Calibri" pitchFamily="34" charset="0"/>
                <a:ea typeface="Calibri" pitchFamily="34" charset="-122"/>
                <a:cs typeface="Calibri" pitchFamily="34" charset="-120"/>
              </a:rPr>
              <a:t>The constructor calls up the chain to Object().</a:t>
            </a:r>
            <a:endParaRPr lang="en-US" sz="1500" dirty="0"/>
          </a:p>
        </p:txBody>
      </p:sp>
      <p:sp>
        <p:nvSpPr>
          <p:cNvPr id="16" name="Shape 14"/>
          <p:cNvSpPr/>
          <p:nvPr/>
        </p:nvSpPr>
        <p:spPr>
          <a:xfrm>
            <a:off x="7223760" y="3877056"/>
            <a:ext cx="438912" cy="438912"/>
          </a:xfrm>
          <a:prstGeom prst="ellipse">
            <a:avLst/>
          </a:prstGeom>
          <a:solidFill>
            <a:srgbClr val="5A66A6"/>
          </a:solidFill>
          <a:ln/>
        </p:spPr>
      </p:sp>
      <p:sp>
        <p:nvSpPr>
          <p:cNvPr id="17" name="Text 15"/>
          <p:cNvSpPr txBox="1"/>
          <p:nvPr/>
        </p:nvSpPr>
        <p:spPr>
          <a:xfrm>
            <a:off x="7223760" y="3877056"/>
            <a:ext cx="438912" cy="438912"/>
          </a:xfrm>
          <a:prstGeom prst="rect">
            <a:avLst/>
          </a:prstGeom>
          <a:noFill/>
          <a:ln/>
        </p:spPr>
        <p:txBody>
          <a:bodyPr wrap="square" lIns="0" tIns="0" rIns="0" bIns="0" rtlCol="0" anchor="ctr"/>
          <a:lstStyle/>
          <a:p>
            <a:pPr algn="ctr" indent="0" marL="0">
              <a:buNone/>
            </a:pPr>
            <a:r>
              <a:rPr lang="en-US" sz="1600" b="1" dirty="0">
                <a:solidFill>
                  <a:srgbClr val="EAEEF9"/>
                </a:solidFill>
                <a:latin typeface="Cambria" pitchFamily="34" charset="0"/>
                <a:ea typeface="Cambria" pitchFamily="34" charset="-122"/>
                <a:cs typeface="Cambria" pitchFamily="34" charset="-120"/>
              </a:rPr>
              <a:t>4</a:t>
            </a:r>
            <a:endParaRPr lang="en-US" sz="1600" dirty="0"/>
          </a:p>
        </p:txBody>
      </p:sp>
      <p:sp>
        <p:nvSpPr>
          <p:cNvPr id="18" name="Text 16"/>
          <p:cNvSpPr txBox="1"/>
          <p:nvPr/>
        </p:nvSpPr>
        <p:spPr>
          <a:xfrm>
            <a:off x="7863840" y="3840480"/>
            <a:ext cx="3749040" cy="658368"/>
          </a:xfrm>
          <a:prstGeom prst="rect">
            <a:avLst/>
          </a:prstGeom>
          <a:noFill/>
          <a:ln/>
        </p:spPr>
        <p:txBody>
          <a:bodyPr wrap="square" lIns="0" tIns="0" rIns="0" bIns="0" rtlCol="0" anchor="ctr"/>
          <a:lstStyle/>
          <a:p>
            <a:pPr indent="0" marL="0">
              <a:buNone/>
            </a:pPr>
            <a:r>
              <a:rPr lang="en-US" sz="1500" dirty="0">
                <a:solidFill>
                  <a:srgbClr val="EAEEF9"/>
                </a:solidFill>
                <a:latin typeface="Calibri" pitchFamily="34" charset="0"/>
                <a:ea typeface="Calibri" pitchFamily="34" charset="-122"/>
                <a:cs typeface="Calibri" pitchFamily="34" charset="-120"/>
              </a:rPr>
              <a:t>Back down, per level: field initializers, then the constructor body.</a:t>
            </a:r>
            <a:endParaRPr lang="en-US" sz="1500" dirty="0"/>
          </a:p>
        </p:txBody>
      </p:sp>
      <p:sp>
        <p:nvSpPr>
          <p:cNvPr id="19" name="Shape 17"/>
          <p:cNvSpPr/>
          <p:nvPr/>
        </p:nvSpPr>
        <p:spPr>
          <a:xfrm>
            <a:off x="548640" y="4846320"/>
            <a:ext cx="11064240" cy="868680"/>
          </a:xfrm>
          <a:prstGeom prst="roundRect">
            <a:avLst>
              <a:gd name="adj" fmla="val 8421"/>
            </a:avLst>
          </a:prstGeom>
          <a:solidFill>
            <a:srgbClr val="242B50"/>
          </a:solidFill>
          <a:ln w="15875">
            <a:solidFill>
              <a:srgbClr val="EC6C75"/>
            </a:solidFill>
            <a:prstDash val="solid"/>
          </a:ln>
        </p:spPr>
      </p:sp>
      <p:sp>
        <p:nvSpPr>
          <p:cNvPr id="20" name="Text 18"/>
          <p:cNvSpPr txBox="1"/>
          <p:nvPr/>
        </p:nvSpPr>
        <p:spPr>
          <a:xfrm>
            <a:off x="749808" y="5010912"/>
            <a:ext cx="10661904" cy="594360"/>
          </a:xfrm>
          <a:prstGeom prst="rect">
            <a:avLst/>
          </a:prstGeom>
          <a:noFill/>
          <a:ln/>
        </p:spPr>
        <p:txBody>
          <a:bodyPr wrap="square" lIns="0" tIns="0" rIns="0" bIns="0" rtlCol="0" anchor="t"/>
          <a:lstStyle/>
          <a:p>
            <a:pPr indent="0" marL="0">
              <a:spcAft>
                <a:spcPts val="400"/>
              </a:spcAft>
              <a:buNone/>
            </a:pPr>
            <a:r>
              <a:rPr lang="en-US" sz="1500" dirty="0">
                <a:solidFill>
                  <a:srgbClr val="EAEEF9"/>
                </a:solidFill>
                <a:latin typeface="Calibri" pitchFamily="34" charset="0"/>
                <a:ea typeface="Calibri" pitchFamily="34" charset="-122"/>
                <a:cs typeface="Calibri" pitchFamily="34" charset="-120"/>
              </a:rPr>
              <a:t>Correction to a common summary: it is not “all field initializers, then all constructors.” Base finishes both before Derived starts its field initializers.</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AA4C4"/>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658368"/>
            <a:ext cx="11064240" cy="731520"/>
          </a:xfrm>
          <a:prstGeom prst="rect">
            <a:avLst/>
          </a:prstGeom>
          <a:noFill/>
          <a:ln/>
        </p:spPr>
        <p:txBody>
          <a:bodyPr wrap="square" lIns="0" tIns="0" rIns="0" bIns="0" rtlCol="0" anchor="ctr"/>
          <a:lstStyle/>
          <a:p>
            <a:pPr algn="l" indent="0" marL="0">
              <a:buNone/>
            </a:pPr>
            <a:r>
              <a:rPr lang="en-US" sz="3200" b="1" dirty="0">
                <a:solidFill>
                  <a:srgbClr val="EAEEF9"/>
                </a:solidFill>
                <a:latin typeface="Cambria" pitchFamily="34" charset="0"/>
                <a:ea typeface="Cambria" pitchFamily="34" charset="-122"/>
                <a:cs typeface="Cambria" pitchFamily="34" charset="-120"/>
              </a:rPr>
              <a:t>Never call an overridable method from a constructor</a:t>
            </a:r>
            <a:endParaRPr lang="en-US" sz="3200" dirty="0"/>
          </a:p>
        </p:txBody>
      </p:sp>
      <p:sp>
        <p:nvSpPr>
          <p:cNvPr id="3" name="Shape 1"/>
          <p:cNvSpPr/>
          <p:nvPr/>
        </p:nvSpPr>
        <p:spPr>
          <a:xfrm>
            <a:off x="566928" y="393192"/>
            <a:ext cx="118872" cy="118872"/>
          </a:xfrm>
          <a:prstGeom prst="ellipse">
            <a:avLst/>
          </a:prstGeom>
          <a:solidFill>
            <a:srgbClr val="58A6CC"/>
          </a:solidFill>
          <a:ln/>
        </p:spPr>
      </p:sp>
      <p:sp>
        <p:nvSpPr>
          <p:cNvPr id="4" name="Text 2"/>
          <p:cNvSpPr txBox="1"/>
          <p:nvPr/>
        </p:nvSpPr>
        <p:spPr>
          <a:xfrm>
            <a:off x="768096" y="320040"/>
            <a:ext cx="10515600" cy="274320"/>
          </a:xfrm>
          <a:prstGeom prst="rect">
            <a:avLst/>
          </a:prstGeom>
          <a:noFill/>
          <a:ln/>
        </p:spPr>
        <p:txBody>
          <a:bodyPr wrap="square" lIns="0" tIns="0" rIns="0" bIns="0" rtlCol="0" anchor="ctr"/>
          <a:lstStyle/>
          <a:p>
            <a:pPr indent="0" marL="0">
              <a:buNone/>
            </a:pPr>
            <a:r>
              <a:rPr lang="en-US" sz="1200" b="1" spc="250" kern="0" dirty="0">
                <a:solidFill>
                  <a:srgbClr val="58A6CC"/>
                </a:solidFill>
                <a:latin typeface="Calibri" pitchFamily="34" charset="0"/>
                <a:ea typeface="Calibri" pitchFamily="34" charset="-122"/>
                <a:cs typeface="Calibri" pitchFamily="34" charset="-120"/>
              </a:rPr>
              <a:t>GOTCHA</a:t>
            </a:r>
            <a:endParaRPr lang="en-US" sz="1200" dirty="0"/>
          </a:p>
        </p:txBody>
      </p:sp>
      <p:sp>
        <p:nvSpPr>
          <p:cNvPr id="5" name="Shape 3"/>
          <p:cNvSpPr/>
          <p:nvPr/>
        </p:nvSpPr>
        <p:spPr>
          <a:xfrm>
            <a:off x="548640" y="1645920"/>
            <a:ext cx="7315200" cy="2551684"/>
          </a:xfrm>
          <a:prstGeom prst="roundRect">
            <a:avLst>
              <a:gd name="adj" fmla="val 2150"/>
            </a:avLst>
          </a:prstGeom>
          <a:solidFill>
            <a:srgbClr val="0E1124"/>
          </a:solidFill>
          <a:ln w="9525">
            <a:solidFill>
              <a:srgbClr val="5A66A6"/>
            </a:solidFill>
            <a:prstDash val="solid"/>
          </a:ln>
        </p:spPr>
      </p:sp>
      <p:sp>
        <p:nvSpPr>
          <p:cNvPr id="6" name="Text 4"/>
          <p:cNvSpPr txBox="1"/>
          <p:nvPr/>
        </p:nvSpPr>
        <p:spPr>
          <a:xfrm>
            <a:off x="731520" y="1755648"/>
            <a:ext cx="6949440" cy="2332228"/>
          </a:xfrm>
          <a:prstGeom prst="rect">
            <a:avLst/>
          </a:prstGeom>
          <a:noFill/>
          <a:ln/>
        </p:spPr>
        <p:txBody>
          <a:bodyPr wrap="square" lIns="0" tIns="0" rIns="0" bIns="0" rtlCol="0" anchor="t"/>
          <a:lstStyle/>
          <a:p>
            <a:pPr indent="0" marL="0">
              <a:lnSpc>
                <a:spcPct val="100000"/>
              </a:lnSpc>
              <a:buNone/>
            </a:pPr>
            <a:r>
              <a:rPr lang="en-US" sz="1400" dirty="0">
                <a:solidFill>
                  <a:srgbClr val="D7E3F4"/>
                </a:solidFill>
                <a:latin typeface="Courier New" pitchFamily="34" charset="0"/>
                <a:ea typeface="Courier New" pitchFamily="34" charset="-122"/>
                <a:cs typeface="Courier New" pitchFamily="34" charset="-120"/>
              </a:rPr>
              <a:t>Base() {</a:t>
            </a:r>
            <a:endParaRPr lang="en-US" sz="1400" dirty="0"/>
          </a:p>
          <a:p>
            <a:pPr indent="0" marL="0">
              <a:lnSpc>
                <a:spcPct val="100000"/>
              </a:lnSpc>
              <a:buNone/>
            </a:pPr>
            <a:r>
              <a:rPr lang="en-US" sz="1400" b="1" dirty="0">
                <a:solidFill>
                  <a:srgbClr val="EC6C75"/>
                </a:solidFill>
                <a:latin typeface="Courier New" pitchFamily="34" charset="0"/>
                <a:ea typeface="Courier New" pitchFamily="34" charset="-122"/>
                <a:cs typeface="Courier New" pitchFamily="34" charset="-120"/>
              </a:rPr>
              <a:t>    describe();</a:t>
            </a:r>
            <a:pPr indent="0" marL="0">
              <a:lnSpc>
                <a:spcPct val="100000"/>
              </a:lnSpc>
              <a:buNone/>
            </a:pPr>
            <a:r>
              <a:rPr lang="en-US" sz="1400" b="1" dirty="0">
                <a:solidFill>
                  <a:srgbClr val="9AA4C4"/>
                </a:solidFill>
                <a:latin typeface="Courier New" pitchFamily="34" charset="0"/>
                <a:ea typeface="Courier New" pitchFamily="34" charset="-122"/>
                <a:cs typeface="Courier New" pitchFamily="34" charset="-120"/>
              </a:rPr>
              <a:t>   // runs Derived's version</a:t>
            </a:r>
            <a:endParaRPr lang="en-US" sz="1400" dirty="0"/>
          </a:p>
          <a:p>
            <a:pPr indent="0" marL="0">
              <a:lnSpc>
                <a:spcPct val="100000"/>
              </a:lnSpc>
              <a:buNone/>
            </a:pPr>
            <a:r>
              <a:rPr lang="en-US" sz="1400" dirty="0">
                <a:solidFill>
                  <a:srgbClr val="D7E3F4"/>
                </a:solidFill>
                <a:latin typeface="Courier New" pitchFamily="34" charset="0"/>
                <a:ea typeface="Courier New" pitchFamily="34" charset="-122"/>
                <a:cs typeface="Courier New" pitchFamily="34" charset="-120"/>
              </a:rPr>
              <a:t>}</a:t>
            </a:r>
            <a:endParaRPr lang="en-US" sz="1400" dirty="0"/>
          </a:p>
          <a:p>
            <a:pPr indent="0" marL="0">
              <a:lnSpc>
                <a:spcPct val="100000"/>
              </a:lnSpc>
              <a:buNone/>
            </a:pPr>
            <a:r>
              <a:rPr lang="en-US" sz="1400" dirty="0">
                <a:solidFill>
                  <a:srgbClr val="D7E3F4"/>
                </a:solidFill>
                <a:latin typeface="Courier New" pitchFamily="34" charset="0"/>
                <a:ea typeface="Courier New" pitchFamily="34" charset="-122"/>
                <a:cs typeface="Courier New" pitchFamily="34" charset="-120"/>
              </a:rPr>
              <a:t> </a:t>
            </a:r>
            <a:endParaRPr lang="en-US" sz="1400" dirty="0"/>
          </a:p>
          <a:p>
            <a:pPr indent="0" marL="0">
              <a:lnSpc>
                <a:spcPct val="100000"/>
              </a:lnSpc>
              <a:buNone/>
            </a:pPr>
            <a:r>
              <a:rPr lang="en-US" sz="1400" dirty="0">
                <a:solidFill>
                  <a:srgbClr val="D7E3F4"/>
                </a:solidFill>
                <a:latin typeface="Courier New" pitchFamily="34" charset="0"/>
                <a:ea typeface="Courier New" pitchFamily="34" charset="-122"/>
                <a:cs typeface="Courier New" pitchFamily="34" charset="-120"/>
              </a:rPr>
              <a:t>class Derived extends Base {</a:t>
            </a:r>
            <a:endParaRPr lang="en-US" sz="1400" dirty="0"/>
          </a:p>
          <a:p>
            <a:pPr indent="0" marL="0">
              <a:lnSpc>
                <a:spcPct val="100000"/>
              </a:lnSpc>
              <a:buNone/>
            </a:pPr>
            <a:r>
              <a:rPr lang="en-US" sz="1400" dirty="0">
                <a:solidFill>
                  <a:srgbClr val="D7E3F4"/>
                </a:solidFill>
                <a:latin typeface="Courier New" pitchFamily="34" charset="0"/>
                <a:ea typeface="Courier New" pitchFamily="34" charset="-122"/>
                <a:cs typeface="Courier New" pitchFamily="34" charset="-120"/>
              </a:rPr>
              <a:t>    private String label = "ready";</a:t>
            </a:r>
            <a:pPr indent="0" marL="0">
              <a:lnSpc>
                <a:spcPct val="100000"/>
              </a:lnSpc>
              <a:buNone/>
            </a:pPr>
            <a:r>
              <a:rPr lang="en-US" sz="1400" b="1" dirty="0">
                <a:solidFill>
                  <a:srgbClr val="9AA4C4"/>
                </a:solidFill>
                <a:latin typeface="Courier New" pitchFamily="34" charset="0"/>
                <a:ea typeface="Courier New" pitchFamily="34" charset="-122"/>
                <a:cs typeface="Courier New" pitchFamily="34" charset="-120"/>
              </a:rPr>
              <a:t>   // not set yet</a:t>
            </a:r>
            <a:endParaRPr lang="en-US" sz="1400" dirty="0"/>
          </a:p>
          <a:p>
            <a:pPr indent="0" marL="0">
              <a:lnSpc>
                <a:spcPct val="100000"/>
              </a:lnSpc>
              <a:buNone/>
            </a:pPr>
            <a:r>
              <a:rPr lang="en-US" sz="1400" dirty="0">
                <a:solidFill>
                  <a:srgbClr val="D7E3F4"/>
                </a:solidFill>
                <a:latin typeface="Courier New" pitchFamily="34" charset="0"/>
                <a:ea typeface="Courier New" pitchFamily="34" charset="-122"/>
                <a:cs typeface="Courier New" pitchFamily="34" charset="-120"/>
              </a:rPr>
              <a:t>    @Override void describe() {</a:t>
            </a:r>
            <a:endParaRPr lang="en-US" sz="1400" dirty="0"/>
          </a:p>
          <a:p>
            <a:pPr indent="0" marL="0">
              <a:lnSpc>
                <a:spcPct val="100000"/>
              </a:lnSpc>
              <a:buNone/>
            </a:pPr>
            <a:r>
              <a:rPr lang="en-US" sz="1400" dirty="0">
                <a:solidFill>
                  <a:srgbClr val="D7E3F4"/>
                </a:solidFill>
                <a:latin typeface="Courier New" pitchFamily="34" charset="0"/>
                <a:ea typeface="Courier New" pitchFamily="34" charset="-122"/>
                <a:cs typeface="Courier New" pitchFamily="34" charset="-120"/>
              </a:rPr>
              <a:t>        System.out.println(label);</a:t>
            </a:r>
            <a:pPr indent="0" marL="0">
              <a:lnSpc>
                <a:spcPct val="100000"/>
              </a:lnSpc>
              <a:buNone/>
            </a:pPr>
            <a:r>
              <a:rPr lang="en-US" sz="1400" b="1" dirty="0">
                <a:solidFill>
                  <a:srgbClr val="EC6C75"/>
                </a:solidFill>
                <a:latin typeface="Courier New" pitchFamily="34" charset="0"/>
                <a:ea typeface="Courier New" pitchFamily="34" charset="-122"/>
                <a:cs typeface="Courier New" pitchFamily="34" charset="-120"/>
              </a:rPr>
              <a:t>   // prints null</a:t>
            </a:r>
            <a:endParaRPr lang="en-US" sz="1400" dirty="0"/>
          </a:p>
          <a:p>
            <a:pPr indent="0" marL="0">
              <a:lnSpc>
                <a:spcPct val="100000"/>
              </a:lnSpc>
              <a:buNone/>
            </a:pPr>
            <a:r>
              <a:rPr lang="en-US" sz="1400" dirty="0">
                <a:solidFill>
                  <a:srgbClr val="D7E3F4"/>
                </a:solidFill>
                <a:latin typeface="Courier New" pitchFamily="34" charset="0"/>
                <a:ea typeface="Courier New" pitchFamily="34" charset="-122"/>
                <a:cs typeface="Courier New" pitchFamily="34" charset="-120"/>
              </a:rPr>
              <a:t>    }</a:t>
            </a:r>
            <a:endParaRPr lang="en-US" sz="1400" dirty="0"/>
          </a:p>
          <a:p>
            <a:pPr indent="0" marL="0">
              <a:lnSpc>
                <a:spcPct val="100000"/>
              </a:lnSpc>
              <a:buNone/>
            </a:pPr>
            <a:r>
              <a:rPr lang="en-US" sz="1400" dirty="0">
                <a:solidFill>
                  <a:srgbClr val="D7E3F4"/>
                </a:solidFill>
                <a:latin typeface="Courier New" pitchFamily="34" charset="0"/>
                <a:ea typeface="Courier New" pitchFamily="34" charset="-122"/>
                <a:cs typeface="Courier New" pitchFamily="34" charset="-120"/>
              </a:rPr>
              <a:t>}</a:t>
            </a:r>
            <a:endParaRPr lang="en-US" sz="1400" dirty="0"/>
          </a:p>
        </p:txBody>
      </p:sp>
      <p:sp>
        <p:nvSpPr>
          <p:cNvPr id="7" name="Shape 5"/>
          <p:cNvSpPr/>
          <p:nvPr/>
        </p:nvSpPr>
        <p:spPr>
          <a:xfrm>
            <a:off x="8138160" y="1645920"/>
            <a:ext cx="3474720" cy="1828800"/>
          </a:xfrm>
          <a:prstGeom prst="roundRect">
            <a:avLst>
              <a:gd name="adj" fmla="val 4000"/>
            </a:avLst>
          </a:prstGeom>
          <a:solidFill>
            <a:srgbClr val="242B50"/>
          </a:solidFill>
          <a:ln w="15875">
            <a:solidFill>
              <a:srgbClr val="EC6C75"/>
            </a:solidFill>
            <a:prstDash val="solid"/>
          </a:ln>
        </p:spPr>
      </p:sp>
      <p:sp>
        <p:nvSpPr>
          <p:cNvPr id="8" name="Text 6"/>
          <p:cNvSpPr txBox="1"/>
          <p:nvPr/>
        </p:nvSpPr>
        <p:spPr>
          <a:xfrm>
            <a:off x="8339328" y="1810512"/>
            <a:ext cx="3072384" cy="411480"/>
          </a:xfrm>
          <a:prstGeom prst="rect">
            <a:avLst/>
          </a:prstGeom>
          <a:noFill/>
          <a:ln/>
        </p:spPr>
        <p:txBody>
          <a:bodyPr wrap="square" lIns="0" tIns="0" rIns="0" bIns="0" rtlCol="0" anchor="ctr"/>
          <a:lstStyle/>
          <a:p>
            <a:pPr indent="0" marL="0">
              <a:buNone/>
            </a:pPr>
            <a:r>
              <a:rPr lang="en-US" sz="1800" b="1" dirty="0">
                <a:solidFill>
                  <a:srgbClr val="EC6C75"/>
                </a:solidFill>
                <a:latin typeface="Cambria" pitchFamily="34" charset="0"/>
                <a:ea typeface="Cambria" pitchFamily="34" charset="-122"/>
                <a:cs typeface="Cambria" pitchFamily="34" charset="-120"/>
              </a:rPr>
              <a:t>What happens</a:t>
            </a:r>
            <a:endParaRPr lang="en-US" sz="1800" dirty="0"/>
          </a:p>
        </p:txBody>
      </p:sp>
      <p:sp>
        <p:nvSpPr>
          <p:cNvPr id="9" name="Text 7"/>
          <p:cNvSpPr txBox="1"/>
          <p:nvPr/>
        </p:nvSpPr>
        <p:spPr>
          <a:xfrm>
            <a:off x="8339328" y="2295144"/>
            <a:ext cx="3072384" cy="1069848"/>
          </a:xfrm>
          <a:prstGeom prst="rect">
            <a:avLst/>
          </a:prstGeom>
          <a:noFill/>
          <a:ln/>
        </p:spPr>
        <p:txBody>
          <a:bodyPr wrap="square" lIns="0" tIns="0" rIns="0" bIns="0" rtlCol="0" anchor="t"/>
          <a:lstStyle/>
          <a:p>
            <a:pPr indent="0" marL="0">
              <a:spcAft>
                <a:spcPts val="400"/>
              </a:spcAft>
              <a:buNone/>
            </a:pPr>
            <a:r>
              <a:rPr lang="en-US" sz="1400" dirty="0">
                <a:solidFill>
                  <a:srgbClr val="EAEEF9"/>
                </a:solidFill>
                <a:latin typeface="Calibri" pitchFamily="34" charset="0"/>
                <a:ea typeface="Calibri" pitchFamily="34" charset="-122"/>
                <a:cs typeface="Calibri" pitchFamily="34" charset="-120"/>
              </a:rPr>
              <a:t>Base runs before Derived’s fields are initialized, so the override sees null or 0.</a:t>
            </a:r>
            <a:endParaRPr lang="en-US" sz="1400" dirty="0"/>
          </a:p>
        </p:txBody>
      </p:sp>
      <p:sp>
        <p:nvSpPr>
          <p:cNvPr id="10" name="Shape 8"/>
          <p:cNvSpPr/>
          <p:nvPr/>
        </p:nvSpPr>
        <p:spPr>
          <a:xfrm>
            <a:off x="8138160" y="3657600"/>
            <a:ext cx="3474720" cy="1828800"/>
          </a:xfrm>
          <a:prstGeom prst="roundRect">
            <a:avLst>
              <a:gd name="adj" fmla="val 4000"/>
            </a:avLst>
          </a:prstGeom>
          <a:solidFill>
            <a:srgbClr val="242B50"/>
          </a:solidFill>
          <a:ln w="15875">
            <a:solidFill>
              <a:srgbClr val="58A6CC"/>
            </a:solidFill>
            <a:prstDash val="solid"/>
          </a:ln>
        </p:spPr>
      </p:sp>
      <p:sp>
        <p:nvSpPr>
          <p:cNvPr id="11" name="Text 9"/>
          <p:cNvSpPr txBox="1"/>
          <p:nvPr/>
        </p:nvSpPr>
        <p:spPr>
          <a:xfrm>
            <a:off x="8339328" y="3822192"/>
            <a:ext cx="3072384" cy="411480"/>
          </a:xfrm>
          <a:prstGeom prst="rect">
            <a:avLst/>
          </a:prstGeom>
          <a:noFill/>
          <a:ln/>
        </p:spPr>
        <p:txBody>
          <a:bodyPr wrap="square" lIns="0" tIns="0" rIns="0" bIns="0" rtlCol="0" anchor="ctr"/>
          <a:lstStyle/>
          <a:p>
            <a:pPr indent="0" marL="0">
              <a:buNone/>
            </a:pPr>
            <a:r>
              <a:rPr lang="en-US" sz="1800" b="1" dirty="0">
                <a:solidFill>
                  <a:srgbClr val="58A6CC"/>
                </a:solidFill>
                <a:latin typeface="Cambria" pitchFamily="34" charset="0"/>
                <a:ea typeface="Cambria" pitchFamily="34" charset="-122"/>
                <a:cs typeface="Cambria" pitchFamily="34" charset="-120"/>
              </a:rPr>
              <a:t>The rule</a:t>
            </a:r>
            <a:endParaRPr lang="en-US" sz="1800" dirty="0"/>
          </a:p>
        </p:txBody>
      </p:sp>
      <p:sp>
        <p:nvSpPr>
          <p:cNvPr id="12" name="Text 10"/>
          <p:cNvSpPr txBox="1"/>
          <p:nvPr/>
        </p:nvSpPr>
        <p:spPr>
          <a:xfrm>
            <a:off x="8339328" y="4306824"/>
            <a:ext cx="3072384" cy="1069848"/>
          </a:xfrm>
          <a:prstGeom prst="rect">
            <a:avLst/>
          </a:prstGeom>
          <a:noFill/>
          <a:ln/>
        </p:spPr>
        <p:txBody>
          <a:bodyPr wrap="square" lIns="0" tIns="0" rIns="0" bIns="0" rtlCol="0" anchor="t"/>
          <a:lstStyle/>
          <a:p>
            <a:pPr indent="0" marL="0">
              <a:spcAft>
                <a:spcPts val="400"/>
              </a:spcAft>
              <a:buNone/>
            </a:pPr>
            <a:r>
              <a:rPr lang="en-US" sz="1400" dirty="0">
                <a:solidFill>
                  <a:srgbClr val="EAEEF9"/>
                </a:solidFill>
                <a:latin typeface="Calibri" pitchFamily="34" charset="0"/>
                <a:ea typeface="Calibri" pitchFamily="34" charset="-122"/>
                <a:cs typeface="Calibri" pitchFamily="34" charset="-120"/>
              </a:rPr>
              <a:t>From a constructor, call only private, static, or final methods.</a:t>
            </a:r>
            <a:endParaRPr lang="en-US" sz="1400" dirty="0"/>
          </a:p>
        </p:txBody>
      </p:sp>
      <p:sp>
        <p:nvSpPr>
          <p:cNvPr id="13" name="Text 11"/>
          <p:cNvSpPr txBox="1"/>
          <p:nvPr/>
        </p:nvSpPr>
        <p:spPr>
          <a:xfrm>
            <a:off x="548640" y="5852160"/>
            <a:ext cx="10424160" cy="411480"/>
          </a:xfrm>
          <a:prstGeom prst="rect">
            <a:avLst/>
          </a:prstGeom>
          <a:noFill/>
          <a:ln/>
        </p:spPr>
        <p:txBody>
          <a:bodyPr wrap="square" lIns="0" tIns="0" rIns="0" bIns="0" rtlCol="0" anchor="t"/>
          <a:lstStyle/>
          <a:p>
            <a:pPr indent="0" marL="0">
              <a:buNone/>
            </a:pPr>
            <a:r>
              <a:rPr lang="en-US" sz="1500" i="1" dirty="0">
                <a:solidFill>
                  <a:srgbClr val="9AA4C4"/>
                </a:solidFill>
                <a:latin typeface="Calibri" pitchFamily="34" charset="0"/>
                <a:ea typeface="Calibri" pitchFamily="34" charset="-122"/>
                <a:cs typeface="Calibri" pitchFamily="34" charset="-120"/>
              </a:rPr>
              <a:t>Constructors that call setters: make those setters final, or share a private helper.</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AA4C4"/>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658368"/>
            <a:ext cx="11064240" cy="731520"/>
          </a:xfrm>
          <a:prstGeom prst="rect">
            <a:avLst/>
          </a:prstGeom>
          <a:noFill/>
          <a:ln/>
        </p:spPr>
        <p:txBody>
          <a:bodyPr wrap="square" lIns="0" tIns="0" rIns="0" bIns="0" rtlCol="0" anchor="ctr"/>
          <a:lstStyle/>
          <a:p>
            <a:pPr algn="l" indent="0" marL="0">
              <a:buNone/>
            </a:pPr>
            <a:r>
              <a:rPr lang="en-US" sz="3200" b="1" dirty="0">
                <a:solidFill>
                  <a:srgbClr val="EAEEF9"/>
                </a:solidFill>
                <a:latin typeface="Cambria" pitchFamily="34" charset="0"/>
                <a:ea typeface="Cambria" pitchFamily="34" charset="-122"/>
                <a:cs typeface="Cambria" pitchFamily="34" charset="-120"/>
              </a:rPr>
              <a:t>A non-serializable superclass is rebuilt by its constructor</a:t>
            </a:r>
            <a:endParaRPr lang="en-US" sz="3200" dirty="0"/>
          </a:p>
        </p:txBody>
      </p:sp>
      <p:sp>
        <p:nvSpPr>
          <p:cNvPr id="3" name="Shape 1"/>
          <p:cNvSpPr/>
          <p:nvPr/>
        </p:nvSpPr>
        <p:spPr>
          <a:xfrm>
            <a:off x="566928" y="393192"/>
            <a:ext cx="118872" cy="118872"/>
          </a:xfrm>
          <a:prstGeom prst="ellipse">
            <a:avLst/>
          </a:prstGeom>
          <a:solidFill>
            <a:srgbClr val="58A6CC"/>
          </a:solidFill>
          <a:ln/>
        </p:spPr>
      </p:sp>
      <p:sp>
        <p:nvSpPr>
          <p:cNvPr id="4" name="Text 2"/>
          <p:cNvSpPr txBox="1"/>
          <p:nvPr/>
        </p:nvSpPr>
        <p:spPr>
          <a:xfrm>
            <a:off x="768096" y="320040"/>
            <a:ext cx="10515600" cy="274320"/>
          </a:xfrm>
          <a:prstGeom prst="rect">
            <a:avLst/>
          </a:prstGeom>
          <a:noFill/>
          <a:ln/>
        </p:spPr>
        <p:txBody>
          <a:bodyPr wrap="square" lIns="0" tIns="0" rIns="0" bIns="0" rtlCol="0" anchor="ctr"/>
          <a:lstStyle/>
          <a:p>
            <a:pPr indent="0" marL="0">
              <a:buNone/>
            </a:pPr>
            <a:r>
              <a:rPr lang="en-US" sz="1200" b="1" spc="250" kern="0" dirty="0">
                <a:solidFill>
                  <a:srgbClr val="58A6CC"/>
                </a:solidFill>
                <a:latin typeface="Calibri" pitchFamily="34" charset="0"/>
                <a:ea typeface="Calibri" pitchFamily="34" charset="-122"/>
                <a:cs typeface="Calibri" pitchFamily="34" charset="-120"/>
              </a:rPr>
              <a:t>SERIALIZATION, REVISITED</a:t>
            </a:r>
            <a:endParaRPr lang="en-US" sz="1200" dirty="0"/>
          </a:p>
        </p:txBody>
      </p:sp>
      <p:sp>
        <p:nvSpPr>
          <p:cNvPr id="5" name="Shape 3"/>
          <p:cNvSpPr/>
          <p:nvPr/>
        </p:nvSpPr>
        <p:spPr>
          <a:xfrm>
            <a:off x="822960" y="1737360"/>
            <a:ext cx="3474720" cy="1188720"/>
          </a:xfrm>
          <a:prstGeom prst="rect">
            <a:avLst/>
          </a:prstGeom>
          <a:solidFill>
            <a:srgbClr val="242B50"/>
          </a:solidFill>
          <a:ln w="19050">
            <a:solidFill>
              <a:srgbClr val="5A66A6"/>
            </a:solidFill>
            <a:prstDash val="solid"/>
          </a:ln>
        </p:spPr>
      </p:sp>
      <p:sp>
        <p:nvSpPr>
          <p:cNvPr id="6" name="Text 4"/>
          <p:cNvSpPr txBox="1"/>
          <p:nvPr/>
        </p:nvSpPr>
        <p:spPr>
          <a:xfrm>
            <a:off x="822960" y="1737360"/>
            <a:ext cx="3474720" cy="457200"/>
          </a:xfrm>
          <a:prstGeom prst="rect">
            <a:avLst/>
          </a:prstGeom>
          <a:noFill/>
          <a:ln/>
        </p:spPr>
        <p:txBody>
          <a:bodyPr wrap="square" lIns="0" tIns="0" rIns="0" bIns="0" rtlCol="0" anchor="ctr"/>
          <a:lstStyle/>
          <a:p>
            <a:pPr algn="ctr" indent="0" marL="0">
              <a:buNone/>
            </a:pPr>
            <a:r>
              <a:rPr lang="en-US" sz="1600" b="1" dirty="0">
                <a:solidFill>
                  <a:srgbClr val="EAEEF9"/>
                </a:solidFill>
                <a:latin typeface="Courier New" pitchFamily="34" charset="0"/>
                <a:ea typeface="Courier New" pitchFamily="34" charset="-122"/>
                <a:cs typeface="Courier New" pitchFamily="34" charset="-120"/>
              </a:rPr>
              <a:t>Person</a:t>
            </a:r>
            <a:endParaRPr lang="en-US" sz="1600" dirty="0"/>
          </a:p>
        </p:txBody>
      </p:sp>
      <p:sp>
        <p:nvSpPr>
          <p:cNvPr id="7" name="Shape 5"/>
          <p:cNvSpPr/>
          <p:nvPr/>
        </p:nvSpPr>
        <p:spPr>
          <a:xfrm>
            <a:off x="822960" y="2194560"/>
            <a:ext cx="3474720" cy="0"/>
          </a:xfrm>
          <a:prstGeom prst="line">
            <a:avLst/>
          </a:prstGeom>
          <a:noFill/>
          <a:ln w="12700">
            <a:solidFill>
              <a:srgbClr val="5A66A6"/>
            </a:solidFill>
            <a:prstDash val="solid"/>
          </a:ln>
        </p:spPr>
      </p:sp>
      <p:sp>
        <p:nvSpPr>
          <p:cNvPr id="8" name="Text 6"/>
          <p:cNvSpPr txBox="1"/>
          <p:nvPr/>
        </p:nvSpPr>
        <p:spPr>
          <a:xfrm>
            <a:off x="960120" y="2267712"/>
            <a:ext cx="3200400" cy="585216"/>
          </a:xfrm>
          <a:prstGeom prst="rect">
            <a:avLst/>
          </a:prstGeom>
          <a:noFill/>
          <a:ln/>
        </p:spPr>
        <p:txBody>
          <a:bodyPr wrap="square" lIns="0" tIns="0" rIns="0" bIns="0" rtlCol="0" anchor="t"/>
          <a:lstStyle/>
          <a:p>
            <a:pPr indent="0" marL="0">
              <a:buNone/>
            </a:pPr>
            <a:r>
              <a:rPr lang="en-US" sz="1300" dirty="0">
                <a:solidFill>
                  <a:srgbClr val="EAEEF9"/>
                </a:solidFill>
                <a:latin typeface="Courier New" pitchFamily="34" charset="0"/>
                <a:ea typeface="Courier New" pitchFamily="34" charset="-122"/>
                <a:cs typeface="Courier New" pitchFamily="34" charset="-120"/>
              </a:rPr>
              <a:t>name</a:t>
            </a:r>
            <a:endParaRPr lang="en-US" sz="1300" dirty="0"/>
          </a:p>
          <a:p>
            <a:pPr indent="0" marL="0">
              <a:buNone/>
            </a:pPr>
            <a:r>
              <a:rPr lang="en-US" sz="1300" dirty="0">
                <a:solidFill>
                  <a:srgbClr val="EAEEF9"/>
                </a:solidFill>
                <a:latin typeface="Courier New" pitchFamily="34" charset="0"/>
                <a:ea typeface="Courier New" pitchFamily="34" charset="-122"/>
                <a:cs typeface="Courier New" pitchFamily="34" charset="-120"/>
              </a:rPr>
              <a:t>Person()  no-arg</a:t>
            </a:r>
            <a:endParaRPr lang="en-US" sz="1300" dirty="0"/>
          </a:p>
        </p:txBody>
      </p:sp>
      <p:sp>
        <p:nvSpPr>
          <p:cNvPr id="9" name="Shape 7"/>
          <p:cNvSpPr/>
          <p:nvPr/>
        </p:nvSpPr>
        <p:spPr>
          <a:xfrm>
            <a:off x="822960" y="3749040"/>
            <a:ext cx="3474720" cy="896112"/>
          </a:xfrm>
          <a:prstGeom prst="rect">
            <a:avLst/>
          </a:prstGeom>
          <a:solidFill>
            <a:srgbClr val="242B50"/>
          </a:solidFill>
          <a:ln w="19050">
            <a:solidFill>
              <a:srgbClr val="5A66A6"/>
            </a:solidFill>
            <a:prstDash val="solid"/>
          </a:ln>
        </p:spPr>
      </p:sp>
      <p:sp>
        <p:nvSpPr>
          <p:cNvPr id="10" name="Text 8"/>
          <p:cNvSpPr txBox="1"/>
          <p:nvPr/>
        </p:nvSpPr>
        <p:spPr>
          <a:xfrm>
            <a:off x="822960" y="3749040"/>
            <a:ext cx="3474720" cy="457200"/>
          </a:xfrm>
          <a:prstGeom prst="rect">
            <a:avLst/>
          </a:prstGeom>
          <a:noFill/>
          <a:ln/>
        </p:spPr>
        <p:txBody>
          <a:bodyPr wrap="square" lIns="0" tIns="0" rIns="0" bIns="0" rtlCol="0" anchor="ctr"/>
          <a:lstStyle/>
          <a:p>
            <a:pPr algn="ctr" indent="0" marL="0">
              <a:buNone/>
            </a:pPr>
            <a:r>
              <a:rPr lang="en-US" sz="1500" b="1" dirty="0">
                <a:solidFill>
                  <a:srgbClr val="EAEEF9"/>
                </a:solidFill>
                <a:latin typeface="Courier New" pitchFamily="34" charset="0"/>
                <a:ea typeface="Courier New" pitchFamily="34" charset="-122"/>
                <a:cs typeface="Courier New" pitchFamily="34" charset="-120"/>
              </a:rPr>
              <a:t>Worker  Serializable</a:t>
            </a:r>
            <a:endParaRPr lang="en-US" sz="1500" dirty="0"/>
          </a:p>
        </p:txBody>
      </p:sp>
      <p:sp>
        <p:nvSpPr>
          <p:cNvPr id="11" name="Shape 9"/>
          <p:cNvSpPr/>
          <p:nvPr/>
        </p:nvSpPr>
        <p:spPr>
          <a:xfrm>
            <a:off x="822960" y="4206240"/>
            <a:ext cx="3474720" cy="0"/>
          </a:xfrm>
          <a:prstGeom prst="line">
            <a:avLst/>
          </a:prstGeom>
          <a:noFill/>
          <a:ln w="12700">
            <a:solidFill>
              <a:srgbClr val="5A66A6"/>
            </a:solidFill>
            <a:prstDash val="solid"/>
          </a:ln>
        </p:spPr>
      </p:sp>
      <p:sp>
        <p:nvSpPr>
          <p:cNvPr id="12" name="Text 10"/>
          <p:cNvSpPr txBox="1"/>
          <p:nvPr/>
        </p:nvSpPr>
        <p:spPr>
          <a:xfrm>
            <a:off x="960120" y="4279392"/>
            <a:ext cx="3200400" cy="292608"/>
          </a:xfrm>
          <a:prstGeom prst="rect">
            <a:avLst/>
          </a:prstGeom>
          <a:noFill/>
          <a:ln/>
        </p:spPr>
        <p:txBody>
          <a:bodyPr wrap="square" lIns="0" tIns="0" rIns="0" bIns="0" rtlCol="0" anchor="t"/>
          <a:lstStyle/>
          <a:p>
            <a:pPr indent="0" marL="0">
              <a:buNone/>
            </a:pPr>
            <a:r>
              <a:rPr lang="en-US" sz="1300" dirty="0">
                <a:solidFill>
                  <a:srgbClr val="EAEEF9"/>
                </a:solidFill>
                <a:latin typeface="Courier New" pitchFamily="34" charset="0"/>
                <a:ea typeface="Courier New" pitchFamily="34" charset="-122"/>
                <a:cs typeface="Courier New" pitchFamily="34" charset="-120"/>
              </a:rPr>
              <a:t>wage</a:t>
            </a:r>
            <a:endParaRPr lang="en-US" sz="1300" dirty="0"/>
          </a:p>
        </p:txBody>
      </p:sp>
      <p:sp>
        <p:nvSpPr>
          <p:cNvPr id="13" name="Shape 11"/>
          <p:cNvSpPr/>
          <p:nvPr/>
        </p:nvSpPr>
        <p:spPr>
          <a:xfrm flipV="1">
            <a:off x="2560320" y="2926080"/>
            <a:ext cx="0" cy="822960"/>
          </a:xfrm>
          <a:prstGeom prst="line">
            <a:avLst/>
          </a:prstGeom>
          <a:noFill/>
          <a:ln w="22225">
            <a:solidFill>
              <a:srgbClr val="5A66A6"/>
            </a:solidFill>
            <a:prstDash val="solid"/>
            <a:tailEnd type="triangle"/>
          </a:ln>
        </p:spPr>
      </p:sp>
      <p:sp>
        <p:nvSpPr>
          <p:cNvPr id="14" name="Shape 12"/>
          <p:cNvSpPr/>
          <p:nvPr/>
        </p:nvSpPr>
        <p:spPr>
          <a:xfrm>
            <a:off x="4846320" y="1737360"/>
            <a:ext cx="6766560" cy="1281684"/>
          </a:xfrm>
          <a:prstGeom prst="roundRect">
            <a:avLst>
              <a:gd name="adj" fmla="val 4281"/>
            </a:avLst>
          </a:prstGeom>
          <a:solidFill>
            <a:srgbClr val="0E1124"/>
          </a:solidFill>
          <a:ln w="9525">
            <a:solidFill>
              <a:srgbClr val="5A66A6"/>
            </a:solidFill>
            <a:prstDash val="solid"/>
          </a:ln>
        </p:spPr>
      </p:sp>
      <p:sp>
        <p:nvSpPr>
          <p:cNvPr id="15" name="Text 13"/>
          <p:cNvSpPr txBox="1"/>
          <p:nvPr/>
        </p:nvSpPr>
        <p:spPr>
          <a:xfrm>
            <a:off x="5029200" y="1847088"/>
            <a:ext cx="6400800" cy="1062228"/>
          </a:xfrm>
          <a:prstGeom prst="rect">
            <a:avLst/>
          </a:prstGeom>
          <a:noFill/>
          <a:ln/>
        </p:spPr>
        <p:txBody>
          <a:bodyPr wrap="square" lIns="0" tIns="0" rIns="0" bIns="0" rtlCol="0" anchor="t"/>
          <a:lstStyle/>
          <a:p>
            <a:pPr indent="0" marL="0">
              <a:lnSpc>
                <a:spcPct val="100000"/>
              </a:lnSpc>
              <a:buNone/>
            </a:pPr>
            <a:r>
              <a:rPr lang="en-US" sz="1500" dirty="0">
                <a:solidFill>
                  <a:srgbClr val="D7E3F4"/>
                </a:solidFill>
                <a:latin typeface="Courier New" pitchFamily="34" charset="0"/>
                <a:ea typeface="Courier New" pitchFamily="34" charset="-122"/>
                <a:cs typeface="Courier New" pitchFamily="34" charset="-120"/>
              </a:rPr>
              <a:t>Before: Ada earns 31.5</a:t>
            </a:r>
            <a:endParaRPr lang="en-US" sz="1500" dirty="0"/>
          </a:p>
          <a:p>
            <a:pPr indent="0" marL="0">
              <a:lnSpc>
                <a:spcPct val="100000"/>
              </a:lnSpc>
              <a:buNone/>
            </a:pPr>
            <a:r>
              <a:rPr lang="en-US" sz="1500" dirty="0">
                <a:solidFill>
                  <a:srgbClr val="D7E3F4"/>
                </a:solidFill>
                <a:latin typeface="Courier New" pitchFamily="34" charset="0"/>
                <a:ea typeface="Courier New" pitchFamily="34" charset="-122"/>
                <a:cs typeface="Courier New" pitchFamily="34" charset="-120"/>
              </a:rPr>
              <a:t>Reading back:</a:t>
            </a:r>
            <a:endParaRPr lang="en-US" sz="1500" dirty="0"/>
          </a:p>
          <a:p>
            <a:pPr indent="0" marL="0">
              <a:lnSpc>
                <a:spcPct val="100000"/>
              </a:lnSpc>
              <a:buNone/>
            </a:pPr>
            <a:r>
              <a:rPr lang="en-US" sz="1500" b="1" dirty="0">
                <a:solidFill>
                  <a:srgbClr val="F4A261"/>
                </a:solidFill>
                <a:latin typeface="Courier New" pitchFamily="34" charset="0"/>
                <a:ea typeface="Courier New" pitchFamily="34" charset="-122"/>
                <a:cs typeface="Courier New" pitchFamily="34" charset="-120"/>
              </a:rPr>
              <a:t>  Person() runs</a:t>
            </a:r>
            <a:endParaRPr lang="en-US" sz="1500" dirty="0"/>
          </a:p>
          <a:p>
            <a:pPr indent="0" marL="0">
              <a:lnSpc>
                <a:spcPct val="100000"/>
              </a:lnSpc>
              <a:buNone/>
            </a:pPr>
            <a:r>
              <a:rPr lang="en-US" sz="1500" b="1" dirty="0">
                <a:solidFill>
                  <a:srgbClr val="F4A261"/>
                </a:solidFill>
                <a:latin typeface="Courier New" pitchFamily="34" charset="0"/>
                <a:ea typeface="Courier New" pitchFamily="34" charset="-122"/>
                <a:cs typeface="Courier New" pitchFamily="34" charset="-120"/>
              </a:rPr>
              <a:t>After:  (unknown) earns 31.5</a:t>
            </a:r>
            <a:endParaRPr lang="en-US" sz="1500" dirty="0"/>
          </a:p>
        </p:txBody>
      </p:sp>
      <p:sp>
        <p:nvSpPr>
          <p:cNvPr id="16" name="Shape 14"/>
          <p:cNvSpPr/>
          <p:nvPr/>
        </p:nvSpPr>
        <p:spPr>
          <a:xfrm>
            <a:off x="4846320" y="3429000"/>
            <a:ext cx="6766560" cy="1920240"/>
          </a:xfrm>
          <a:prstGeom prst="roundRect">
            <a:avLst>
              <a:gd name="adj" fmla="val 3810"/>
            </a:avLst>
          </a:prstGeom>
          <a:solidFill>
            <a:srgbClr val="242B50"/>
          </a:solidFill>
          <a:ln w="15875">
            <a:solidFill>
              <a:srgbClr val="5A66A6"/>
            </a:solidFill>
            <a:prstDash val="solid"/>
          </a:ln>
        </p:spPr>
      </p:sp>
      <p:sp>
        <p:nvSpPr>
          <p:cNvPr id="17" name="Text 15"/>
          <p:cNvSpPr txBox="1"/>
          <p:nvPr/>
        </p:nvSpPr>
        <p:spPr>
          <a:xfrm>
            <a:off x="5047488" y="3593592"/>
            <a:ext cx="6364224" cy="1645920"/>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EAEEF9"/>
                </a:solidFill>
                <a:latin typeface="Calibri" pitchFamily="34" charset="0"/>
                <a:ea typeface="Calibri" pitchFamily="34" charset="-122"/>
                <a:cs typeface="Calibri" pitchFamily="34" charset="-120"/>
              </a:rPr>
              <a:t>wage (serializable class) is restored.</a:t>
            </a:r>
            <a:endParaRPr lang="en-US" sz="1500" dirty="0"/>
          </a:p>
          <a:p>
            <a:pPr marL="342900" indent="-342900">
              <a:spcAft>
                <a:spcPts val="400"/>
              </a:spcAft>
              <a:buSzPct val="100000"/>
              <a:buChar char="•"/>
            </a:pPr>
            <a:r>
              <a:rPr lang="en-US" sz="1500" dirty="0">
                <a:solidFill>
                  <a:srgbClr val="EAEEF9"/>
                </a:solidFill>
                <a:latin typeface="Calibri" pitchFamily="34" charset="0"/>
                <a:ea typeface="Calibri" pitchFamily="34" charset="-122"/>
                <a:cs typeface="Calibri" pitchFamily="34" charset="-120"/>
              </a:rPr>
              <a:t>name (non-serializable superclass) is not saved; Person() sets it.</a:t>
            </a:r>
            <a:endParaRPr lang="en-US" sz="1500" dirty="0"/>
          </a:p>
          <a:p>
            <a:pPr marL="342900" indent="-342900">
              <a:spcAft>
                <a:spcPts val="400"/>
              </a:spcAft>
              <a:buSzPct val="100000"/>
              <a:buChar char="•"/>
            </a:pPr>
            <a:r>
              <a:rPr lang="en-US" sz="1500" dirty="0">
                <a:solidFill>
                  <a:srgbClr val="EAEEF9"/>
                </a:solidFill>
                <a:latin typeface="Calibri" pitchFamily="34" charset="0"/>
                <a:ea typeface="Calibri" pitchFamily="34" charset="-122"/>
                <a:cs typeface="Calibri" pitchFamily="34" charset="-120"/>
              </a:rPr>
              <a:t>No accessible no-arg constructor: InvalidClassException, no valid constructor.</a:t>
            </a:r>
            <a:endParaRPr lang="en-US" sz="1500" dirty="0"/>
          </a:p>
        </p:txBody>
      </p:sp>
      <p:sp>
        <p:nvSpPr>
          <p:cNvPr id="18" name="Text 16"/>
          <p:cNvSpPr txBox="1"/>
          <p:nvPr/>
        </p:nvSpPr>
        <p:spPr>
          <a:xfrm>
            <a:off x="548640" y="5760720"/>
            <a:ext cx="10424160" cy="411480"/>
          </a:xfrm>
          <a:prstGeom prst="rect">
            <a:avLst/>
          </a:prstGeom>
          <a:noFill/>
          <a:ln/>
        </p:spPr>
        <p:txBody>
          <a:bodyPr wrap="square" lIns="0" tIns="0" rIns="0" bIns="0" rtlCol="0" anchor="t"/>
          <a:lstStyle/>
          <a:p>
            <a:pPr indent="0" marL="0">
              <a:buNone/>
            </a:pPr>
            <a:r>
              <a:rPr lang="en-US" sz="1500" i="1" dirty="0">
                <a:solidFill>
                  <a:srgbClr val="9AA4C4"/>
                </a:solidFill>
                <a:latin typeface="Calibri" pitchFamily="34" charset="0"/>
                <a:ea typeface="Calibri" pitchFamily="34" charset="-122"/>
                <a:cs typeface="Calibri" pitchFamily="34" charset="-120"/>
              </a:rPr>
              <a:t>If a superclass’s fields matter, make the superclass Serializable too.</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AA4C4"/>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E1124"/>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658368"/>
            <a:ext cx="11064240" cy="731520"/>
          </a:xfrm>
          <a:prstGeom prst="rect">
            <a:avLst/>
          </a:prstGeom>
          <a:noFill/>
          <a:ln/>
        </p:spPr>
        <p:txBody>
          <a:bodyPr wrap="square" lIns="0" tIns="0" rIns="0" bIns="0" rtlCol="0" anchor="ctr"/>
          <a:lstStyle/>
          <a:p>
            <a:pPr algn="l" indent="0" marL="0">
              <a:buNone/>
            </a:pPr>
            <a:r>
              <a:rPr lang="en-US" sz="3200" b="1" dirty="0">
                <a:solidFill>
                  <a:srgbClr val="EAEEF9"/>
                </a:solidFill>
                <a:latin typeface="Cambria" pitchFamily="34" charset="0"/>
                <a:ea typeface="Cambria" pitchFamily="34" charset="-122"/>
                <a:cs typeface="Cambria" pitchFamily="34" charset="-120"/>
              </a:rPr>
              <a:t>Next: build it in Example 3</a:t>
            </a:r>
            <a:endParaRPr lang="en-US" sz="3200" dirty="0"/>
          </a:p>
        </p:txBody>
      </p:sp>
      <p:sp>
        <p:nvSpPr>
          <p:cNvPr id="3" name="Shape 1"/>
          <p:cNvSpPr/>
          <p:nvPr/>
        </p:nvSpPr>
        <p:spPr>
          <a:xfrm>
            <a:off x="566928" y="393192"/>
            <a:ext cx="118872" cy="118872"/>
          </a:xfrm>
          <a:prstGeom prst="ellipse">
            <a:avLst/>
          </a:prstGeom>
          <a:solidFill>
            <a:srgbClr val="58A6CC"/>
          </a:solidFill>
          <a:ln/>
        </p:spPr>
      </p:sp>
      <p:sp>
        <p:nvSpPr>
          <p:cNvPr id="4" name="Text 2"/>
          <p:cNvSpPr txBox="1"/>
          <p:nvPr/>
        </p:nvSpPr>
        <p:spPr>
          <a:xfrm>
            <a:off x="768096" y="320040"/>
            <a:ext cx="10515600" cy="274320"/>
          </a:xfrm>
          <a:prstGeom prst="rect">
            <a:avLst/>
          </a:prstGeom>
          <a:noFill/>
          <a:ln/>
        </p:spPr>
        <p:txBody>
          <a:bodyPr wrap="square" lIns="0" tIns="0" rIns="0" bIns="0" rtlCol="0" anchor="ctr"/>
          <a:lstStyle/>
          <a:p>
            <a:pPr indent="0" marL="0">
              <a:buNone/>
            </a:pPr>
            <a:r>
              <a:rPr lang="en-US" sz="1200" b="1" spc="250" kern="0" dirty="0">
                <a:solidFill>
                  <a:srgbClr val="58A6CC"/>
                </a:solidFill>
                <a:latin typeface="Calibri" pitchFamily="34" charset="0"/>
                <a:ea typeface="Calibri" pitchFamily="34" charset="-122"/>
                <a:cs typeface="Calibri" pitchFamily="34" charset="-120"/>
              </a:rPr>
              <a:t>NEXT</a:t>
            </a:r>
            <a:endParaRPr lang="en-US" sz="1200" dirty="0"/>
          </a:p>
        </p:txBody>
      </p:sp>
      <p:sp>
        <p:nvSpPr>
          <p:cNvPr id="5" name="Shape 3"/>
          <p:cNvSpPr/>
          <p:nvPr/>
        </p:nvSpPr>
        <p:spPr>
          <a:xfrm>
            <a:off x="731520" y="1819656"/>
            <a:ext cx="438912" cy="438912"/>
          </a:xfrm>
          <a:prstGeom prst="ellipse">
            <a:avLst/>
          </a:prstGeom>
          <a:solidFill>
            <a:srgbClr val="5A66A6"/>
          </a:solidFill>
          <a:ln/>
        </p:spPr>
      </p:sp>
      <p:sp>
        <p:nvSpPr>
          <p:cNvPr id="6" name="Text 4"/>
          <p:cNvSpPr txBox="1"/>
          <p:nvPr/>
        </p:nvSpPr>
        <p:spPr>
          <a:xfrm>
            <a:off x="731520" y="1819656"/>
            <a:ext cx="438912" cy="438912"/>
          </a:xfrm>
          <a:prstGeom prst="rect">
            <a:avLst/>
          </a:prstGeom>
          <a:noFill/>
          <a:ln/>
        </p:spPr>
        <p:txBody>
          <a:bodyPr wrap="square" lIns="0" tIns="0" rIns="0" bIns="0" rtlCol="0" anchor="ctr"/>
          <a:lstStyle/>
          <a:p>
            <a:pPr algn="ctr" indent="0" marL="0">
              <a:buNone/>
            </a:pPr>
            <a:r>
              <a:rPr lang="en-US" sz="1600" b="1" dirty="0">
                <a:solidFill>
                  <a:srgbClr val="EAEEF9"/>
                </a:solidFill>
                <a:latin typeface="Cambria" pitchFamily="34" charset="0"/>
                <a:ea typeface="Cambria" pitchFamily="34" charset="-122"/>
                <a:cs typeface="Cambria" pitchFamily="34" charset="-120"/>
              </a:rPr>
              <a:t>1</a:t>
            </a:r>
            <a:endParaRPr lang="en-US" sz="1600" dirty="0"/>
          </a:p>
        </p:txBody>
      </p:sp>
      <p:sp>
        <p:nvSpPr>
          <p:cNvPr id="7" name="Text 5"/>
          <p:cNvSpPr txBox="1"/>
          <p:nvPr/>
        </p:nvSpPr>
        <p:spPr>
          <a:xfrm>
            <a:off x="1371600" y="1783080"/>
            <a:ext cx="9875520" cy="658368"/>
          </a:xfrm>
          <a:prstGeom prst="rect">
            <a:avLst/>
          </a:prstGeom>
          <a:noFill/>
          <a:ln/>
        </p:spPr>
        <p:txBody>
          <a:bodyPr wrap="square" lIns="0" tIns="0" rIns="0" bIns="0" rtlCol="0" anchor="ctr"/>
          <a:lstStyle/>
          <a:p>
            <a:pPr indent="0" marL="0">
              <a:buNone/>
            </a:pPr>
            <a:r>
              <a:rPr lang="en-US" sz="1900" dirty="0">
                <a:solidFill>
                  <a:srgbClr val="EAEEF9"/>
                </a:solidFill>
                <a:latin typeface="Calibri" pitchFamily="34" charset="0"/>
                <a:ea typeface="Calibri" pitchFamily="34" charset="-122"/>
                <a:cs typeface="Calibri" pitchFamily="34" charset="-120"/>
              </a:rPr>
              <a:t>Make Employee abstract; add SalariedEmployee and HourlyEmployee.</a:t>
            </a:r>
            <a:endParaRPr lang="en-US" sz="1900" dirty="0"/>
          </a:p>
        </p:txBody>
      </p:sp>
      <p:sp>
        <p:nvSpPr>
          <p:cNvPr id="8" name="Shape 6"/>
          <p:cNvSpPr/>
          <p:nvPr/>
        </p:nvSpPr>
        <p:spPr>
          <a:xfrm>
            <a:off x="731520" y="2551176"/>
            <a:ext cx="438912" cy="438912"/>
          </a:xfrm>
          <a:prstGeom prst="ellipse">
            <a:avLst/>
          </a:prstGeom>
          <a:solidFill>
            <a:srgbClr val="5A66A6"/>
          </a:solidFill>
          <a:ln/>
        </p:spPr>
      </p:sp>
      <p:sp>
        <p:nvSpPr>
          <p:cNvPr id="9" name="Text 7"/>
          <p:cNvSpPr txBox="1"/>
          <p:nvPr/>
        </p:nvSpPr>
        <p:spPr>
          <a:xfrm>
            <a:off x="731520" y="2551176"/>
            <a:ext cx="438912" cy="438912"/>
          </a:xfrm>
          <a:prstGeom prst="rect">
            <a:avLst/>
          </a:prstGeom>
          <a:noFill/>
          <a:ln/>
        </p:spPr>
        <p:txBody>
          <a:bodyPr wrap="square" lIns="0" tIns="0" rIns="0" bIns="0" rtlCol="0" anchor="ctr"/>
          <a:lstStyle/>
          <a:p>
            <a:pPr algn="ctr" indent="0" marL="0">
              <a:buNone/>
            </a:pPr>
            <a:r>
              <a:rPr lang="en-US" sz="1600" b="1" dirty="0">
                <a:solidFill>
                  <a:srgbClr val="EAEEF9"/>
                </a:solidFill>
                <a:latin typeface="Cambria" pitchFamily="34" charset="0"/>
                <a:ea typeface="Cambria" pitchFamily="34" charset="-122"/>
                <a:cs typeface="Cambria" pitchFamily="34" charset="-120"/>
              </a:rPr>
              <a:t>2</a:t>
            </a:r>
            <a:endParaRPr lang="en-US" sz="1600" dirty="0"/>
          </a:p>
        </p:txBody>
      </p:sp>
      <p:sp>
        <p:nvSpPr>
          <p:cNvPr id="10" name="Text 8"/>
          <p:cNvSpPr txBox="1"/>
          <p:nvPr/>
        </p:nvSpPr>
        <p:spPr>
          <a:xfrm>
            <a:off x="1371600" y="2514600"/>
            <a:ext cx="9875520" cy="658368"/>
          </a:xfrm>
          <a:prstGeom prst="rect">
            <a:avLst/>
          </a:prstGeom>
          <a:noFill/>
          <a:ln/>
        </p:spPr>
        <p:txBody>
          <a:bodyPr wrap="square" lIns="0" tIns="0" rIns="0" bIns="0" rtlCol="0" anchor="ctr"/>
          <a:lstStyle/>
          <a:p>
            <a:pPr indent="0" marL="0">
              <a:buNone/>
            </a:pPr>
            <a:r>
              <a:rPr lang="en-US" sz="1900" dirty="0">
                <a:solidFill>
                  <a:srgbClr val="EAEEF9"/>
                </a:solidFill>
                <a:latin typeface="Calibri" pitchFamily="34" charset="0"/>
                <a:ea typeface="Calibri" pitchFamily="34" charset="-122"/>
                <a:cs typeface="Calibri" pitchFamily="34" charset="-120"/>
              </a:rPr>
              <a:t>Move Manager under SalariedEmployee; make Executive final.</a:t>
            </a:r>
            <a:endParaRPr lang="en-US" sz="1900" dirty="0"/>
          </a:p>
        </p:txBody>
      </p:sp>
      <p:sp>
        <p:nvSpPr>
          <p:cNvPr id="11" name="Shape 9"/>
          <p:cNvSpPr/>
          <p:nvPr/>
        </p:nvSpPr>
        <p:spPr>
          <a:xfrm>
            <a:off x="731520" y="3282696"/>
            <a:ext cx="438912" cy="438912"/>
          </a:xfrm>
          <a:prstGeom prst="ellipse">
            <a:avLst/>
          </a:prstGeom>
          <a:solidFill>
            <a:srgbClr val="5A66A6"/>
          </a:solidFill>
          <a:ln/>
        </p:spPr>
      </p:sp>
      <p:sp>
        <p:nvSpPr>
          <p:cNvPr id="12" name="Text 10"/>
          <p:cNvSpPr txBox="1"/>
          <p:nvPr/>
        </p:nvSpPr>
        <p:spPr>
          <a:xfrm>
            <a:off x="731520" y="3282696"/>
            <a:ext cx="438912" cy="438912"/>
          </a:xfrm>
          <a:prstGeom prst="rect">
            <a:avLst/>
          </a:prstGeom>
          <a:noFill/>
          <a:ln/>
        </p:spPr>
        <p:txBody>
          <a:bodyPr wrap="square" lIns="0" tIns="0" rIns="0" bIns="0" rtlCol="0" anchor="ctr"/>
          <a:lstStyle/>
          <a:p>
            <a:pPr algn="ctr" indent="0" marL="0">
              <a:buNone/>
            </a:pPr>
            <a:r>
              <a:rPr lang="en-US" sz="1600" b="1" dirty="0">
                <a:solidFill>
                  <a:srgbClr val="EAEEF9"/>
                </a:solidFill>
                <a:latin typeface="Cambria" pitchFamily="34" charset="0"/>
                <a:ea typeface="Cambria" pitchFamily="34" charset="-122"/>
                <a:cs typeface="Cambria" pitchFamily="34" charset="-120"/>
              </a:rPr>
              <a:t>3</a:t>
            </a:r>
            <a:endParaRPr lang="en-US" sz="1600" dirty="0"/>
          </a:p>
        </p:txBody>
      </p:sp>
      <p:sp>
        <p:nvSpPr>
          <p:cNvPr id="13" name="Text 11"/>
          <p:cNvSpPr txBox="1"/>
          <p:nvPr/>
        </p:nvSpPr>
        <p:spPr>
          <a:xfrm>
            <a:off x="1371600" y="3246120"/>
            <a:ext cx="9875520" cy="658368"/>
          </a:xfrm>
          <a:prstGeom prst="rect">
            <a:avLst/>
          </a:prstGeom>
          <a:noFill/>
          <a:ln/>
        </p:spPr>
        <p:txBody>
          <a:bodyPr wrap="square" lIns="0" tIns="0" rIns="0" bIns="0" rtlCol="0" anchor="ctr"/>
          <a:lstStyle/>
          <a:p>
            <a:pPr indent="0" marL="0">
              <a:buNone/>
            </a:pPr>
            <a:r>
              <a:rPr lang="en-US" sz="1900" dirty="0">
                <a:solidFill>
                  <a:srgbClr val="EAEEF9"/>
                </a:solidFill>
                <a:latin typeface="Calibri" pitchFamily="34" charset="0"/>
                <a:ea typeface="Calibri" pitchFamily="34" charset="-122"/>
                <a:cs typeface="Calibri" pitchFamily="34" charset="-120"/>
              </a:rPr>
              <a:t>Predict the output of ConstructorOrderDemo, then run it.</a:t>
            </a:r>
            <a:endParaRPr lang="en-US" sz="1900" dirty="0"/>
          </a:p>
        </p:txBody>
      </p:sp>
      <p:sp>
        <p:nvSpPr>
          <p:cNvPr id="14" name="Shape 12"/>
          <p:cNvSpPr/>
          <p:nvPr/>
        </p:nvSpPr>
        <p:spPr>
          <a:xfrm>
            <a:off x="731520" y="4014216"/>
            <a:ext cx="438912" cy="438912"/>
          </a:xfrm>
          <a:prstGeom prst="ellipse">
            <a:avLst/>
          </a:prstGeom>
          <a:solidFill>
            <a:srgbClr val="5A66A6"/>
          </a:solidFill>
          <a:ln/>
        </p:spPr>
      </p:sp>
      <p:sp>
        <p:nvSpPr>
          <p:cNvPr id="15" name="Text 13"/>
          <p:cNvSpPr txBox="1"/>
          <p:nvPr/>
        </p:nvSpPr>
        <p:spPr>
          <a:xfrm>
            <a:off x="731520" y="4014216"/>
            <a:ext cx="438912" cy="438912"/>
          </a:xfrm>
          <a:prstGeom prst="rect">
            <a:avLst/>
          </a:prstGeom>
          <a:noFill/>
          <a:ln/>
        </p:spPr>
        <p:txBody>
          <a:bodyPr wrap="square" lIns="0" tIns="0" rIns="0" bIns="0" rtlCol="0" anchor="ctr"/>
          <a:lstStyle/>
          <a:p>
            <a:pPr algn="ctr" indent="0" marL="0">
              <a:buNone/>
            </a:pPr>
            <a:r>
              <a:rPr lang="en-US" sz="1600" b="1" dirty="0">
                <a:solidFill>
                  <a:srgbClr val="EAEEF9"/>
                </a:solidFill>
                <a:latin typeface="Cambria" pitchFamily="34" charset="0"/>
                <a:ea typeface="Cambria" pitchFamily="34" charset="-122"/>
                <a:cs typeface="Cambria" pitchFamily="34" charset="-120"/>
              </a:rPr>
              <a:t>4</a:t>
            </a:r>
            <a:endParaRPr lang="en-US" sz="1600" dirty="0"/>
          </a:p>
        </p:txBody>
      </p:sp>
      <p:sp>
        <p:nvSpPr>
          <p:cNvPr id="16" name="Text 14"/>
          <p:cNvSpPr txBox="1"/>
          <p:nvPr/>
        </p:nvSpPr>
        <p:spPr>
          <a:xfrm>
            <a:off x="1371600" y="3977640"/>
            <a:ext cx="9875520" cy="658368"/>
          </a:xfrm>
          <a:prstGeom prst="rect">
            <a:avLst/>
          </a:prstGeom>
          <a:noFill/>
          <a:ln/>
        </p:spPr>
        <p:txBody>
          <a:bodyPr wrap="square" lIns="0" tIns="0" rIns="0" bIns="0" rtlCol="0" anchor="ctr"/>
          <a:lstStyle/>
          <a:p>
            <a:pPr indent="0" marL="0">
              <a:buNone/>
            </a:pPr>
            <a:r>
              <a:rPr lang="en-US" sz="1900" dirty="0">
                <a:solidFill>
                  <a:srgbClr val="EAEEF9"/>
                </a:solidFill>
                <a:latin typeface="Calibri" pitchFamily="34" charset="0"/>
                <a:ea typeface="Calibri" pitchFamily="34" charset="-122"/>
                <a:cs typeface="Calibri" pitchFamily="34" charset="-120"/>
              </a:rPr>
              <a:t>Then: the rental agency problem, which we solve together.</a:t>
            </a:r>
            <a:endParaRPr lang="en-US" sz="1900" dirty="0"/>
          </a:p>
        </p:txBody>
      </p:sp>
      <p:sp>
        <p:nvSpPr>
          <p:cNvPr id="17" name="Text 15"/>
          <p:cNvSpPr txBox="1"/>
          <p:nvPr/>
        </p:nvSpPr>
        <p:spPr>
          <a:xfrm>
            <a:off x="548640" y="5852160"/>
            <a:ext cx="10424160" cy="411480"/>
          </a:xfrm>
          <a:prstGeom prst="rect">
            <a:avLst/>
          </a:prstGeom>
          <a:noFill/>
          <a:ln/>
        </p:spPr>
        <p:txBody>
          <a:bodyPr wrap="square" lIns="0" tIns="0" rIns="0" bIns="0" rtlCol="0" anchor="t"/>
          <a:lstStyle/>
          <a:p>
            <a:pPr indent="0" marL="0">
              <a:buNone/>
            </a:pPr>
            <a:r>
              <a:rPr lang="en-US" sz="1500" i="1" dirty="0">
                <a:solidFill>
                  <a:srgbClr val="9AA4C4"/>
                </a:solidFill>
                <a:latin typeface="Calibri" pitchFamily="34" charset="0"/>
                <a:ea typeface="Calibri" pitchFamily="34" charset="-122"/>
                <a:cs typeface="Calibri" pitchFamily="34" charset="-120"/>
              </a:rPr>
              <a:t>Read the Part 3 notes and Core Java, Volume I, Sections 5.1 and 5.2.</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AA4C4"/>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theme/theme1.xml><?xml version="1.0" encoding="utf-8"?>
<a:theme xmlns:a="http://schemas.openxmlformats.org/drawingml/2006/main" name="CIS 3300 Dark">
  <a:themeElements>
    <a:clrScheme name="CIS 3300 Dark">
      <a:dk1>
        <a:srgbClr val="0E1124"/>
      </a:dk1>
      <a:lt1>
        <a:srgbClr val="EAEEF9"/>
      </a:lt1>
      <a:dk2>
        <a:srgbClr val="191F3C"/>
      </a:dk2>
      <a:lt2>
        <a:srgbClr val="9AA4C4"/>
      </a:lt2>
      <a:accent1>
        <a:srgbClr val="58A6CC"/>
      </a:accent1>
      <a:accent2>
        <a:srgbClr val="F4A261"/>
      </a:accent2>
      <a:accent3>
        <a:srgbClr val="EC6C75"/>
      </a:accent3>
      <a:accent4>
        <a:srgbClr val="5A66A6"/>
      </a:accent4>
      <a:accent5>
        <a:srgbClr val="242B50"/>
      </a:accent5>
      <a:accent6>
        <a:srgbClr val="2E3660"/>
      </a:accent6>
      <a:hlink>
        <a:srgbClr val="58A6CC"/>
      </a:hlink>
      <a:folHlink>
        <a:srgbClr val="9AA4C4"/>
      </a:folHlink>
    </a:clrScheme>
    <a:fontScheme name="CIS 3300 Dar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Abstract Classes, final, and Constructors</dc:title>
  <dc:subject>CIS 3300, Inheritance and Polymorphism</dc:subject>
  <dc:creator>PptxGenJS</dc:creator>
  <cp:lastModifiedBy>PptxGenJS</cp:lastModifiedBy>
  <cp:revision>1</cp:revision>
  <dcterms:created xsi:type="dcterms:W3CDTF">2026-10-11T18:19:40Z</dcterms:created>
  <dcterms:modified xsi:type="dcterms:W3CDTF">2026-10-11T18:19:40Z</dcterms:modified>
</cp:coreProperties>
</file>