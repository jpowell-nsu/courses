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 of the unit, the last topic. Goes with the Part 4 notes and Example 5 in the code tutorial.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refuses a class with two superclasses. The next slide shows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from older slides: the question is not only about methods. Fields and constructors are just as ambiguous. Languages that allow this need extra rules for each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from older slides: since Java 8, multiple inheritance of behavior is no longer simply impossible. Default methods allow a limited, rule-governed form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Correction from older slides: an interface can extend any number of interfaces, not just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Dashed arrows mean implements. Employee's existing getName and abstract getMonthlyPay satisfy Payable, so no subclass changes. By now an Executive passes eight is-a tests: five classes including Object, and three interfaces.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extends Manager, so it inherits the override and needs no change.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 text for rule 1 case: default method toString in interface Payable overrides a member of java.lang.Object. Correction from older slides: default methods are inherited; they are not something that 'only exists if the class does not define one'. Static interface methods, however, are not inherited.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may hear 'favor composition over inheritance.' Inheritance ties a subclass tightly to its superclass; has-a, from the earlier unit, is often the better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E1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3300  ·  INHERITANCE AND POLYMORPHISM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19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Multiple Inheritance</a:t>
            </a:r>
            <a:endParaRPr lang="en-US" sz="48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731520" y="352044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of 4: the diamond problem, and how Java gets most of the benefit through interfaces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than one direct superclass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INHERITANCE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274320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34640" y="3749040"/>
            <a:ext cx="274320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EC6C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3749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TeachingAssistant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 flipH="1" flipV="1">
            <a:off x="2468880" y="2286000"/>
            <a:ext cx="1188720" cy="1463040"/>
          </a:xfrm>
          <a:prstGeom prst="line">
            <a:avLst/>
          </a:prstGeom>
          <a:noFill/>
          <a:ln w="22225">
            <a:solidFill>
              <a:srgbClr val="EC6C7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V="1">
            <a:off x="4754880" y="2286000"/>
            <a:ext cx="1188720" cy="1463040"/>
          </a:xfrm>
          <a:prstGeom prst="line">
            <a:avLst/>
          </a:prstGeom>
          <a:noFill/>
          <a:ln w="22225">
            <a:solidFill>
              <a:srgbClr val="EC6C75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48640" y="4800600"/>
            <a:ext cx="7315200" cy="567309"/>
          </a:xfrm>
          <a:prstGeom prst="roundRect">
            <a:avLst>
              <a:gd name="adj" fmla="val 9671"/>
            </a:avLst>
          </a:prstGeom>
          <a:solidFill>
            <a:srgbClr val="0E1124"/>
          </a:solidFill>
          <a:ln w="9525">
            <a:solidFill>
              <a:srgbClr val="5A6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910328"/>
            <a:ext cx="6949440" cy="3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TeachingAssistant extends Student, Employee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2011680" cy="347472"/>
          </a:xfrm>
          <a:prstGeom prst="roundRect">
            <a:avLst>
              <a:gd name="adj" fmla="val 15789"/>
            </a:avLst>
          </a:prstGeom>
          <a:solidFill>
            <a:srgbClr val="EC6C7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5321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11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legal Java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38160" y="182880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9328" y="1993392"/>
            <a:ext cx="30723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people want it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478024"/>
            <a:ext cx="3072384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assistant really is both a student and an employee. C++ and Python allow this. The trouble starts when both parents share an ancestor.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paths to one ancestor raise three questions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DIAMOND PROBLEM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0" y="1600200"/>
            <a:ext cx="2560320" cy="1188720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74320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0" y="2057400"/>
            <a:ext cx="2560320" cy="0"/>
          </a:xfrm>
          <a:prstGeom prst="line">
            <a:avLst/>
          </a:prstGeom>
          <a:noFill/>
          <a:ln w="12700">
            <a:solidFill>
              <a:srgbClr val="5A6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80360" y="2130552"/>
            <a:ext cx="22860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154680"/>
            <a:ext cx="2560320" cy="896112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3611880"/>
            <a:ext cx="2560320" cy="0"/>
          </a:xfrm>
          <a:prstGeom prst="line">
            <a:avLst/>
          </a:prstGeom>
          <a:noFill/>
          <a:ln w="12700">
            <a:solidFill>
              <a:srgbClr val="5A6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54880" y="3154680"/>
            <a:ext cx="2560320" cy="896112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54880" y="3154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Employee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54880" y="3611880"/>
            <a:ext cx="2560320" cy="0"/>
          </a:xfrm>
          <a:prstGeom prst="line">
            <a:avLst/>
          </a:prstGeom>
          <a:noFill/>
          <a:ln w="12700">
            <a:solidFill>
              <a:srgbClr val="5A66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92040" y="36850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0" y="4800600"/>
            <a:ext cx="256032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EC6C7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43200" y="48006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TeachingAssistant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 flipV="1">
            <a:off x="2011680" y="2788920"/>
            <a:ext cx="1554480" cy="365760"/>
          </a:xfrm>
          <a:prstGeom prst="line">
            <a:avLst/>
          </a:prstGeom>
          <a:noFill/>
          <a:ln w="22225">
            <a:solidFill>
              <a:srgbClr val="5A66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 flipV="1">
            <a:off x="4480560" y="2788920"/>
            <a:ext cx="1554480" cy="365760"/>
          </a:xfrm>
          <a:prstGeom prst="line">
            <a:avLst/>
          </a:prstGeom>
          <a:noFill/>
          <a:ln w="22225">
            <a:solidFill>
              <a:srgbClr val="5A66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2011680" y="4050792"/>
            <a:ext cx="1554480" cy="749808"/>
          </a:xfrm>
          <a:prstGeom prst="line">
            <a:avLst/>
          </a:prstGeom>
          <a:noFill/>
          <a:ln w="22225">
            <a:solidFill>
              <a:srgbClr val="EC6C7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V="1">
            <a:off x="4480560" y="4050792"/>
            <a:ext cx="1554480" cy="749808"/>
          </a:xfrm>
          <a:prstGeom prst="line">
            <a:avLst/>
          </a:prstGeom>
          <a:noFill/>
          <a:ln w="22225">
            <a:solidFill>
              <a:srgbClr val="EC6C7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72400" y="16002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973568" y="176479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973568" y="2157984"/>
            <a:ext cx="3438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describe() does it inherit?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772400" y="29718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973568" y="313639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973568" y="3529584"/>
            <a:ext cx="3438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copy of name, or two?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772400" y="4343400"/>
            <a:ext cx="3840480" cy="1188720"/>
          </a:xfrm>
          <a:prstGeom prst="roundRect">
            <a:avLst>
              <a:gd name="adj" fmla="val 6154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973568" y="4507992"/>
            <a:ext cx="3438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Construction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973568" y="4901184"/>
            <a:ext cx="343814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Person() run once, or twice?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 it three ways: state, behavior, and type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PRECISELY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42B50"/>
          </a:solidFill>
          <a:ln w="15875">
            <a:solidFill>
              <a:srgbClr val="EC6C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C6C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08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classes have instance fields, and a class extends one class.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29768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42B50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9884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4498848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3108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Java 8, default methods can come from several interfaces, with firm conflict rules.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520440" cy="3291840"/>
          </a:xfrm>
          <a:prstGeom prst="roundRect">
            <a:avLst>
              <a:gd name="adj" fmla="val 2222"/>
            </a:avLst>
          </a:prstGeom>
          <a:solidFill>
            <a:srgbClr val="242B50"/>
          </a:solidFill>
          <a:ln w="15875">
            <a:solidFill>
              <a:srgbClr val="58A6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4788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8247888" y="228600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58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247888" y="3108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class can implement any number of interfaces, and is an instance of each.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3035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“Java does not support multiple inheritance” is true for state, partly true for behavior, and false for type.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 extends one class and implements many interfaces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10512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class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95144"/>
            <a:ext cx="4992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exactly one class (Object if none)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implements any number of interfaces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extend an interface or implement a class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19088" y="1810512"/>
            <a:ext cx="4992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interface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19088" y="2295144"/>
            <a:ext cx="4992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any number of interfaces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extend a class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implement anything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11064240" cy="837184"/>
          </a:xfrm>
          <a:prstGeom prst="roundRect">
            <a:avLst>
              <a:gd name="adj" fmla="val 6553"/>
            </a:avLst>
          </a:prstGeom>
          <a:solidFill>
            <a:srgbClr val="0E1124"/>
          </a:solidFill>
          <a:ln w="9525">
            <a:solidFill>
              <a:srgbClr val="5A6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950208"/>
            <a:ext cx="10698480" cy="617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Manager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SalariedEmployee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Mentor, Trainer</a:t>
            </a:r>
            <a:endParaRPr lang="en-US" sz="16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interface Leader </a:t>
            </a:r>
            <a:pPr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extends</a:t>
            </a:r>
            <a:pPr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Mentor, Trainer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9377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 header, extends comes first, then implements.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Payable gives employees and contractors one shared type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INHERITANCE OF TYPE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023360" y="1600200"/>
            <a:ext cx="4023360" cy="1481328"/>
          </a:xfrm>
          <a:prstGeom prst="rect">
            <a:avLst/>
          </a:prstGeom>
          <a:solidFill>
            <a:srgbClr val="242B5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023360" y="1600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 Payable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023360" y="2057400"/>
            <a:ext cx="4023360" cy="0"/>
          </a:xfrm>
          <a:prstGeom prst="line">
            <a:avLst/>
          </a:prstGeom>
          <a:noFill/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60520" y="2130552"/>
            <a:ext cx="3749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getName()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getMonthlyPay()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paymentLine()  default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97280" y="3749040"/>
            <a:ext cx="329184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abstract Employee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680960" y="3749040"/>
            <a:ext cx="329184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680960" y="37490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Contractor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 flipV="1">
            <a:off x="2743200" y="3081528"/>
            <a:ext cx="2377440" cy="667512"/>
          </a:xfrm>
          <a:prstGeom prst="line">
            <a:avLst/>
          </a:prstGeom>
          <a:noFill/>
          <a:ln w="22225">
            <a:solidFill>
              <a:srgbClr val="F4A261"/>
            </a:solidFill>
            <a:prstDash val="dash"/>
            <a:tailEnd type="triangle"/>
          </a:ln>
        </p:spPr>
      </p:sp>
      <p:sp>
        <p:nvSpPr>
          <p:cNvPr id="14" name="Shape 12"/>
          <p:cNvSpPr/>
          <p:nvPr/>
        </p:nvSpPr>
        <p:spPr>
          <a:xfrm flipH="1" flipV="1">
            <a:off x="6949440" y="3081528"/>
            <a:ext cx="2377440" cy="667512"/>
          </a:xfrm>
          <a:prstGeom prst="line">
            <a:avLst/>
          </a:prstGeom>
          <a:noFill/>
          <a:ln w="22225">
            <a:solidFill>
              <a:srgbClr val="F4A261"/>
            </a:solidFill>
            <a:prstDash val="dash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822960" y="431596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Salaried, Hourly, Manager, Executive: no changes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406640" y="43159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Employee: no ID, no salary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92040"/>
            <a:ext cx="11064240" cy="805434"/>
          </a:xfrm>
          <a:prstGeom prst="roundRect">
            <a:avLst>
              <a:gd name="adj" fmla="val 6812"/>
            </a:avLst>
          </a:prstGeom>
          <a:solidFill>
            <a:srgbClr val="0E1124"/>
          </a:solidFill>
          <a:ln w="9525">
            <a:solidFill>
              <a:srgbClr val="5A6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5001768"/>
            <a:ext cx="10698480" cy="5859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ArrayList&lt;Payable&gt; payees = ...;   // Ada, Linus, Grace, Alan, Margaret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(Payable p : payees) total += p.getMonthlyPay();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// 42950.00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default methods, one name: Java makes you choose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DIAMOND RETURNS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743200" cy="896112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 Mentor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2743200" cy="0"/>
          </a:xfrm>
          <a:prstGeom prst="line">
            <a:avLst/>
          </a:prstGeom>
          <a:noFill/>
          <a:ln w="12700">
            <a:solidFill>
              <a:srgbClr val="5A66A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supportDescription()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23360" y="1645920"/>
            <a:ext cx="2743200" cy="896112"/>
          </a:xfrm>
          <a:prstGeom prst="rect">
            <a:avLst/>
          </a:prstGeom>
          <a:solidFill>
            <a:srgbClr val="242B50"/>
          </a:solidFill>
          <a:ln w="19050">
            <a:solidFill>
              <a:srgbClr val="5A66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233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«interface» Trainer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23360" y="2103120"/>
            <a:ext cx="2743200" cy="0"/>
          </a:xfrm>
          <a:prstGeom prst="line">
            <a:avLst/>
          </a:prstGeom>
          <a:noFill/>
          <a:ln w="12700">
            <a:solidFill>
              <a:srgbClr val="5A66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60520" y="21762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supportDescription()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77440" y="3429000"/>
            <a:ext cx="2743200" cy="457200"/>
          </a:xfrm>
          <a:prstGeom prst="rect">
            <a:avLst/>
          </a:prstGeom>
          <a:solidFill>
            <a:srgbClr val="242B5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377440" y="3429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 flipH="1" flipV="1">
            <a:off x="2103120" y="2542032"/>
            <a:ext cx="1097280" cy="886968"/>
          </a:xfrm>
          <a:prstGeom prst="line">
            <a:avLst/>
          </a:prstGeom>
          <a:noFill/>
          <a:ln w="22225">
            <a:solidFill>
              <a:srgbClr val="5A66A6"/>
            </a:solidFill>
            <a:prstDash val="dash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4297680" y="2542032"/>
            <a:ext cx="1097280" cy="886968"/>
          </a:xfrm>
          <a:prstGeom prst="line">
            <a:avLst/>
          </a:prstGeom>
          <a:noFill/>
          <a:ln w="22225">
            <a:solidFill>
              <a:srgbClr val="5A66A6"/>
            </a:solidFill>
            <a:prstDash val="dash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32320" y="1645920"/>
            <a:ext cx="4480560" cy="948309"/>
          </a:xfrm>
          <a:prstGeom prst="roundRect">
            <a:avLst>
              <a:gd name="adj" fmla="val 5785"/>
            </a:avLst>
          </a:prstGeom>
          <a:solidFill>
            <a:srgbClr val="0E1124"/>
          </a:solidFill>
          <a:ln w="9525">
            <a:solidFill>
              <a:srgbClr val="5A66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0" y="1755648"/>
            <a:ext cx="4114800" cy="728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C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types Mentor and Trainer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C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are incompatible; class Manager</a:t>
            </a:r>
            <a:endParaRPr lang="en-US" sz="13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EC6C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inherits unrelated defaults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7680960" cy="1519809"/>
          </a:xfrm>
          <a:prstGeom prst="roundRect">
            <a:avLst>
              <a:gd name="adj" fmla="val 3610"/>
            </a:avLst>
          </a:prstGeom>
          <a:solidFill>
            <a:srgbClr val="0E1124"/>
          </a:solidFill>
          <a:ln w="9525">
            <a:solidFill>
              <a:srgbClr val="5A66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4453128"/>
            <a:ext cx="7315200" cy="13003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String supportDescription() {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Mentor.super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.supportDescription() + " and "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+ </a:t>
            </a:r>
            <a:pPr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Trainer.super</a:t>
            </a:r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.supportDescription();</a:t>
            </a:r>
            <a:endParaRPr lang="en-US" sz="1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D7E3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503920" y="2880360"/>
            <a:ext cx="3108960" cy="2834640"/>
          </a:xfrm>
          <a:prstGeom prst="roundRect">
            <a:avLst>
              <a:gd name="adj" fmla="val 2581"/>
            </a:avLst>
          </a:prstGeom>
          <a:solidFill>
            <a:srgbClr val="242B50"/>
          </a:solidFill>
          <a:ln w="15875">
            <a:solidFill>
              <a:srgbClr val="5A66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05088" y="3044952"/>
            <a:ext cx="2706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fix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705088" y="3529584"/>
            <a:ext cx="2706624" cy="2075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method. InterfaceName.super.method() calls one interface’s default, so you can pick, combine, or replace.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rules settle every conflict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RULES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773936"/>
            <a:ext cx="438912" cy="43891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7739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37360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win. A superclass method beats an interface default.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642616"/>
            <a:ext cx="438912" cy="43891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6426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606040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specific interface wins. A subinterface’s override beats its parent’s default.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3511296"/>
            <a:ext cx="438912" cy="438912"/>
          </a:xfrm>
          <a:prstGeom prst="ellipse">
            <a:avLst/>
          </a:prstGeom>
          <a:solidFill>
            <a:srgbClr val="F4A2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5112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474720"/>
            <a:ext cx="1014984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you must override, and you may call X.super.method().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242B50"/>
          </a:solidFill>
          <a:ln w="15875">
            <a:solidFill>
              <a:srgbClr val="58A6C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49808" y="4736592"/>
            <a:ext cx="106619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is why an interface cannot have a default toString, equals, or hashCode: every class already inherits them from Object, so the default could never run.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class, interface, or has-a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CHOOSING A TOOL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42B50"/>
          </a:solidFill>
          <a:ln w="15875">
            <a:solidFill>
              <a:srgbClr val="58A6C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58A6C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 class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95144"/>
            <a:ext cx="31181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identity and shared data. One per class. Fields and constructors allowed.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5720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1C2242"/>
          </a:solidFill>
          <a:ln w="15875">
            <a:solidFill>
              <a:srgbClr val="1C224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49808" y="473659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Employee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42B50"/>
          </a:solidFill>
          <a:ln w="15875">
            <a:solidFill>
              <a:srgbClr val="F4A2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4A2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4498848" y="2295144"/>
            <a:ext cx="31181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capability or role. Any number per class. No instance fields, no constructors.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97680" y="45720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1C2242"/>
          </a:solidFill>
          <a:ln w="15875">
            <a:solidFill>
              <a:srgbClr val="1C22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98848" y="473659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Payable, Mentor, Trainer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046720" y="1645920"/>
            <a:ext cx="3520440" cy="2743200"/>
          </a:xfrm>
          <a:prstGeom prst="roundRect">
            <a:avLst>
              <a:gd name="adj" fmla="val 2667"/>
            </a:avLst>
          </a:prstGeom>
          <a:solidFill>
            <a:srgbClr val="242B50"/>
          </a:solidFill>
          <a:ln w="15875">
            <a:solidFill>
              <a:srgbClr val="EAEE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47888" y="1810512"/>
            <a:ext cx="3118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Has-a</a:t>
            </a:r>
            <a:endParaRPr lang="en-US" sz="2100" dirty="0"/>
          </a:p>
        </p:txBody>
      </p:sp>
      <p:sp>
        <p:nvSpPr>
          <p:cNvPr id="17" name="Text 15"/>
          <p:cNvSpPr txBox="1"/>
          <p:nvPr/>
        </p:nvSpPr>
        <p:spPr>
          <a:xfrm>
            <a:off x="8247888" y="2295144"/>
            <a:ext cx="31181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is-a sentence feels forced. Hold the other objects in fields instead.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4572000"/>
            <a:ext cx="3520440" cy="1005840"/>
          </a:xfrm>
          <a:prstGeom prst="roundRect">
            <a:avLst>
              <a:gd name="adj" fmla="val 7273"/>
            </a:avLst>
          </a:prstGeom>
          <a:solidFill>
            <a:srgbClr val="1C2242"/>
          </a:solidFill>
          <a:ln w="15875">
            <a:solidFill>
              <a:srgbClr val="1C224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47888" y="4736592"/>
            <a:ext cx="3118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TA has a Student record and an Employee record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build it in Example 5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66928" y="393192"/>
            <a:ext cx="118872" cy="118872"/>
          </a:xfrm>
          <a:prstGeom prst="ellipse">
            <a:avLst/>
          </a:prstGeom>
          <a:solidFill>
            <a:srgbClr val="58A6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8096" y="32004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58A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819656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81965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78308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Payable, and make Employee implement it.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2551176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2551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251460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Contractor, and pay everyone from one ArrayList&lt;Payable&gt;.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31520" y="3282696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28269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324612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Mentor and Trainer to Manager; read the error; fix it.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31520" y="4014216"/>
            <a:ext cx="438912" cy="438912"/>
          </a:xfrm>
          <a:prstGeom prst="ellipse">
            <a:avLst/>
          </a:prstGeom>
          <a:solidFill>
            <a:srgbClr val="5A66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0142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EE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977640"/>
            <a:ext cx="9875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A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is-a tests an Executive passes.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8521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9A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Part 4 notes and Core Java, Volume I, Sections 5.1 and 6.1.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9AA4C4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S 3300 Dark">
  <a:themeElements>
    <a:clrScheme name="CIS 3300 Dark">
      <a:dk1>
        <a:srgbClr val="0E1124"/>
      </a:dk1>
      <a:lt1>
        <a:srgbClr val="EAEEF9"/>
      </a:lt1>
      <a:dk2>
        <a:srgbClr val="191F3C"/>
      </a:dk2>
      <a:lt2>
        <a:srgbClr val="9AA4C4"/>
      </a:lt2>
      <a:accent1>
        <a:srgbClr val="58A6CC"/>
      </a:accent1>
      <a:accent2>
        <a:srgbClr val="F4A261"/>
      </a:accent2>
      <a:accent3>
        <a:srgbClr val="EC6C75"/>
      </a:accent3>
      <a:accent4>
        <a:srgbClr val="5A66A6"/>
      </a:accent4>
      <a:accent5>
        <a:srgbClr val="242B50"/>
      </a:accent5>
      <a:accent6>
        <a:srgbClr val="2E3660"/>
      </a:accent6>
      <a:hlink>
        <a:srgbClr val="58A6CC"/>
      </a:hlink>
      <a:folHlink>
        <a:srgbClr val="9AA4C4"/>
      </a:folHlink>
    </a:clrScheme>
    <a:fontScheme name="CIS 3300 Dar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Multiple Inheritance</dc:title>
  <dc:subject>CIS 3300, Inheritance and Polymorphism</dc:subject>
  <dc:creator>PptxGenJS</dc:creator>
  <cp:lastModifiedBy>PptxGenJS</cp:lastModifiedBy>
  <cp:revision>1</cp:revision>
  <dcterms:created xsi:type="dcterms:W3CDTF">2026-10-11T18:19:55Z</dcterms:created>
  <dcterms:modified xsi:type="dcterms:W3CDTF">2026-10-11T18:19:55Z</dcterms:modified>
</cp:coreProperties>
</file>